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08" r:id="rId5"/>
    <p:sldId id="310" r:id="rId6"/>
    <p:sldId id="311" r:id="rId7"/>
    <p:sldId id="307" r:id="rId8"/>
    <p:sldId id="257" r:id="rId9"/>
    <p:sldId id="258" r:id="rId10"/>
    <p:sldId id="259" r:id="rId11"/>
    <p:sldId id="272" r:id="rId12"/>
    <p:sldId id="269" r:id="rId13"/>
    <p:sldId id="260" r:id="rId14"/>
    <p:sldId id="263" r:id="rId15"/>
    <p:sldId id="261" r:id="rId16"/>
    <p:sldId id="276" r:id="rId17"/>
    <p:sldId id="277" r:id="rId18"/>
    <p:sldId id="281" r:id="rId19"/>
    <p:sldId id="293" r:id="rId20"/>
    <p:sldId id="296" r:id="rId21"/>
    <p:sldId id="297" r:id="rId22"/>
    <p:sldId id="299" r:id="rId23"/>
    <p:sldId id="300" r:id="rId24"/>
    <p:sldId id="301" r:id="rId25"/>
    <p:sldId id="302" r:id="rId26"/>
    <p:sldId id="304" r:id="rId27"/>
    <p:sldId id="306" r:id="rId28"/>
    <p:sldId id="294" r:id="rId29"/>
    <p:sldId id="286" r:id="rId30"/>
    <p:sldId id="287" r:id="rId31"/>
    <p:sldId id="288" r:id="rId32"/>
    <p:sldId id="289" r:id="rId33"/>
    <p:sldId id="290" r:id="rId34"/>
    <p:sldId id="262" r:id="rId35"/>
    <p:sldId id="264" r:id="rId36"/>
    <p:sldId id="265" r:id="rId37"/>
    <p:sldId id="266" r:id="rId38"/>
    <p:sldId id="267" r:id="rId39"/>
    <p:sldId id="312" r:id="rId40"/>
    <p:sldId id="313" r:id="rId41"/>
    <p:sldId id="309" r:id="rId4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0" autoAdjust="0"/>
    <p:restoredTop sz="87213"/>
  </p:normalViewPr>
  <p:slideViewPr>
    <p:cSldViewPr snapToGrid="0">
      <p:cViewPr>
        <p:scale>
          <a:sx n="99" d="100"/>
          <a:sy n="99" d="100"/>
        </p:scale>
        <p:origin x="432" y="912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5T05:41: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0.000 0.000,'5156.000'0.000,"-5134.000"0.000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05:41: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0.000 1.000 0,'11633.000'0.000'0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pitchFamily="49" charset="-122"/>
              </a:defRPr>
            </a:lvl1pPr>
          </a:lstStyle>
          <a:p>
            <a:endParaRPr kumimoji="1"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pitchFamily="49" charset="-122"/>
              </a:defRPr>
            </a:lvl1pPr>
          </a:lstStyle>
          <a:p>
            <a:fld id="{83BED595-DBF4-5F42-BE80-E894D2913F80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pitchFamily="49" charset="-122"/>
              </a:defRPr>
            </a:lvl1pPr>
          </a:lstStyle>
          <a:p>
            <a:endParaRPr kumimoji="1"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pitchFamily="49" charset="-122"/>
              </a:defRPr>
            </a:lvl1pPr>
          </a:lstStyle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我们小组的主题是探讨梦的结构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这里可以加上简短的引入，如介绍数据来源等</a:t>
            </a:r>
            <a:endParaRPr kumimoji="1" lang="en-US" altLang="zh-CN"/>
          </a:p>
          <a:p>
            <a:endParaRPr kumimoji="1" lang="en-US" altLang="zh-HK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/>
              <a:t>小组成员有</a:t>
            </a:r>
            <a:r>
              <a:rPr kumimoji="1" lang="zh-CN" altLang="en-US" sz="1200" kern="1200">
                <a:solidFill>
                  <a:schemeClr val="tx1"/>
                </a:solidFill>
                <a:latin typeface="黑体" panose="02010609060101010101" pitchFamily="49" charset="-122"/>
                <a:ea typeface="+mn-ea"/>
                <a:cs typeface="+mn-cs"/>
              </a:rPr>
              <a:t>：叶琳珊</a:t>
            </a:r>
            <a:r>
              <a:rPr kumimoji="1" lang="en-US" altLang="zh-CN" sz="1200" kern="1200">
                <a:solidFill>
                  <a:schemeClr val="tx1"/>
                </a:solidFill>
                <a:latin typeface="黑体" panose="02010609060101010101" pitchFamily="49" charset="-122"/>
                <a:ea typeface="+mn-ea"/>
                <a:cs typeface="+mn-cs"/>
              </a:rPr>
              <a:t>    </a:t>
            </a:r>
            <a:r>
              <a:rPr kumimoji="1" lang="zh-CN" altLang="en-US" sz="1200" kern="1200">
                <a:solidFill>
                  <a:schemeClr val="tx1"/>
                </a:solidFill>
                <a:latin typeface="黑体" panose="02010609060101010101" pitchFamily="49" charset="-122"/>
                <a:ea typeface="+mn-ea"/>
                <a:cs typeface="+mn-cs"/>
              </a:rPr>
              <a:t>余绵峯    陈劲豪</a:t>
            </a:r>
            <a:endParaRPr kumimoji="1" lang="en-US" altLang="zh-HK" sz="1200" kern="1200">
              <a:solidFill>
                <a:schemeClr val="tx1"/>
              </a:solidFill>
              <a:latin typeface="黑体" panose="02010609060101010101" pitchFamily="49" charset="-122"/>
              <a:ea typeface="+mn-ea"/>
              <a:cs typeface="+mn-cs"/>
            </a:endParaRPr>
          </a:p>
          <a:p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本次分享主要包括以下这些内容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数据来源部分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这里介绍数据来源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在进行任何分析之前</a:t>
            </a:r>
            <a:r>
              <a:rPr kumimoji="1" lang="zh-CN" altLang="en-US">
                <a:ea typeface="黑体" panose="02010609060101010101" pitchFamily="49" charset="-122"/>
              </a:rPr>
              <a:t>，我们需要对</a:t>
            </a:r>
            <a:r>
              <a:rPr kumimoji="1" lang="en-US" altLang="zh-CN" err="1">
                <a:ea typeface="黑体" panose="02010609060101010101" pitchFamily="49" charset="-122"/>
              </a:rPr>
              <a:t>DreamBank</a:t>
            </a:r>
            <a:r>
              <a:rPr kumimoji="1" lang="zh-CN" altLang="en-US">
                <a:ea typeface="黑体" panose="02010609060101010101" pitchFamily="49" charset="-122"/>
              </a:rPr>
              <a:t>和</a:t>
            </a:r>
            <a:r>
              <a:rPr kumimoji="1" lang="en-US" altLang="zh-CN">
                <a:ea typeface="黑体" panose="02010609060101010101" pitchFamily="49" charset="-122"/>
              </a:rPr>
              <a:t>SDDB</a:t>
            </a:r>
            <a:r>
              <a:rPr kumimoji="1" lang="zh-CN" altLang="en-US">
                <a:ea typeface="黑体" panose="02010609060101010101" pitchFamily="49" charset="-122"/>
              </a:rPr>
              <a:t>的数据进行清洗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HK"/>
              <a:t>SDDB</a:t>
            </a:r>
            <a:r>
              <a:rPr kumimoji="1" lang="zh-HK" altLang="en-US"/>
              <a:t>的数据是从官网下载</a:t>
            </a:r>
            <a:r>
              <a:rPr kumimoji="1" lang="en-US" altLang="zh-HK"/>
              <a:t>csv</a:t>
            </a:r>
            <a:r>
              <a:rPr kumimoji="1" lang="zh-HK" altLang="en-US"/>
              <a:t>得到的</a:t>
            </a:r>
            <a:r>
              <a:rPr kumimoji="1" lang="zh-CN" altLang="en-US">
                <a:ea typeface="黑体" panose="02010609060101010101" pitchFamily="49" charset="-122"/>
              </a:rPr>
              <a:t>，但是显而易见，原始数据并不是一行一个梦境，而是一个梦境可以随机跨很多行；同时，</a:t>
            </a:r>
            <a:r>
              <a:rPr lang="en-US" altLang="zh-HK" sz="1200"/>
              <a:t>Title, Gender,</a:t>
            </a:r>
            <a:r>
              <a:rPr lang="zh-CN" altLang="en-US" sz="1200">
                <a:ea typeface="黑体" panose="02010609060101010101" pitchFamily="49" charset="-122"/>
              </a:rPr>
              <a:t> </a:t>
            </a:r>
            <a:r>
              <a:rPr lang="en-US" altLang="zh-HK" sz="1200"/>
              <a:t>Age, Categories</a:t>
            </a:r>
            <a:r>
              <a:rPr lang="zh-CN" altLang="en-US" sz="1200">
                <a:ea typeface="黑体" panose="02010609060101010101" pitchFamily="49" charset="-122"/>
              </a:rPr>
              <a:t> 等特征从来没有被填写过</a:t>
            </a:r>
            <a:br>
              <a:rPr lang="en-US" altLang="zh-CN" sz="1200">
                <a:ea typeface="黑体" panose="02010609060101010101" pitchFamily="49" charset="-122"/>
              </a:rPr>
            </a:br>
            <a:br>
              <a:rPr lang="en-US" altLang="zh-CN" sz="1200">
                <a:ea typeface="黑体" panose="02010609060101010101" pitchFamily="49" charset="-122"/>
              </a:rPr>
            </a:br>
            <a:r>
              <a:rPr lang="zh-CN" altLang="en-US" sz="1200">
                <a:ea typeface="黑体" panose="02010609060101010101" pitchFamily="49" charset="-122"/>
              </a:rPr>
              <a:t>因此，我们通过正则表达式，修正了梦境跨行的问题，并移除了空白特征。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同时</a:t>
            </a:r>
            <a:r>
              <a:rPr kumimoji="1" lang="zh-CN" altLang="en-US">
                <a:ea typeface="黑体" panose="02010609060101010101" pitchFamily="49" charset="-122"/>
              </a:rPr>
              <a:t>，在阅读</a:t>
            </a:r>
            <a:r>
              <a:rPr kumimoji="1" lang="en-US" altLang="zh-CN">
                <a:ea typeface="黑体" panose="02010609060101010101" pitchFamily="49" charset="-122"/>
              </a:rPr>
              <a:t>SDDB</a:t>
            </a:r>
            <a:r>
              <a:rPr kumimoji="1" lang="zh-HK" altLang="en-US"/>
              <a:t>梦境文本时</a:t>
            </a:r>
            <a:r>
              <a:rPr kumimoji="1" lang="zh-CN" altLang="en-US">
                <a:ea typeface="黑体" panose="02010609060101010101" pitchFamily="49" charset="-122"/>
              </a:rPr>
              <a:t>，我们发现在</a:t>
            </a:r>
            <a:r>
              <a:rPr kumimoji="1" lang="en-US" altLang="zh-CN">
                <a:ea typeface="黑体" panose="02010609060101010101" pitchFamily="49" charset="-122"/>
              </a:rPr>
              <a:t>group</a:t>
            </a:r>
            <a:r>
              <a:rPr kumimoji="1" lang="zh-CN" altLang="en-US">
                <a:ea typeface="黑体" panose="02010609060101010101" pitchFamily="49" charset="-122"/>
              </a:rPr>
              <a:t> </a:t>
            </a:r>
            <a:r>
              <a:rPr kumimoji="1" lang="en-US" altLang="zh-CN">
                <a:ea typeface="黑体" panose="02010609060101010101" pitchFamily="49" charset="-122"/>
              </a:rPr>
              <a:t>studies</a:t>
            </a:r>
            <a:r>
              <a:rPr kumimoji="1" lang="zh-CN" altLang="en-US">
                <a:ea typeface="黑体" panose="02010609060101010101" pitchFamily="49" charset="-122"/>
              </a:rPr>
              <a:t>中，有些</a:t>
            </a:r>
            <a:r>
              <a:rPr kumimoji="1" lang="zh-HK" altLang="en-US"/>
              <a:t>被式</a:t>
            </a:r>
            <a:r>
              <a:rPr kumimoji="1" lang="en-US" altLang="zh-CN">
                <a:ea typeface="黑体" panose="02010609060101010101" pitchFamily="49" charset="-122"/>
              </a:rPr>
              <a:t>——</a:t>
            </a:r>
            <a:r>
              <a:rPr kumimoji="1" lang="zh-CN" altLang="en-US">
                <a:ea typeface="黑体" panose="02010609060101010101" pitchFamily="49" charset="-122"/>
              </a:rPr>
              <a:t>尤其是儿童</a:t>
            </a:r>
            <a:r>
              <a:rPr kumimoji="1" lang="en-US" altLang="zh-CN">
                <a:ea typeface="黑体" panose="02010609060101010101" pitchFamily="49" charset="-122"/>
              </a:rPr>
              <a:t>——</a:t>
            </a:r>
            <a:r>
              <a:rPr kumimoji="1" lang="zh-CN" altLang="en-US">
                <a:ea typeface="黑体" panose="02010609060101010101" pitchFamily="49" charset="-122"/>
              </a:rPr>
              <a:t>可能会拒绝回忆、说出自己的梦境，或者干脆说自己不做梦、不记得；为了移除这些样本污染实验结果，我们调用</a:t>
            </a:r>
            <a:r>
              <a:rPr kumimoji="1" lang="en-US" altLang="zh-CN">
                <a:ea typeface="黑体" panose="02010609060101010101" pitchFamily="49" charset="-122"/>
              </a:rPr>
              <a:t>LLM</a:t>
            </a:r>
            <a:r>
              <a:rPr kumimoji="1" lang="zh-CN" altLang="en-US">
                <a:ea typeface="黑体" panose="02010609060101010101" pitchFamily="49" charset="-122"/>
              </a:rPr>
              <a:t>读取来自</a:t>
            </a:r>
            <a:r>
              <a:rPr kumimoji="1" lang="en-US" altLang="zh-CN">
                <a:ea typeface="黑体" panose="02010609060101010101" pitchFamily="49" charset="-122"/>
              </a:rPr>
              <a:t>group</a:t>
            </a:r>
            <a:r>
              <a:rPr kumimoji="1" lang="zh-CN" altLang="en-US">
                <a:ea typeface="黑体" panose="02010609060101010101" pitchFamily="49" charset="-122"/>
              </a:rPr>
              <a:t> </a:t>
            </a:r>
            <a:r>
              <a:rPr kumimoji="1" lang="en-US" altLang="zh-CN">
                <a:ea typeface="黑体" panose="02010609060101010101" pitchFamily="49" charset="-122"/>
              </a:rPr>
              <a:t>studies</a:t>
            </a:r>
            <a:r>
              <a:rPr kumimoji="1" lang="zh-CN" altLang="en-US">
                <a:ea typeface="黑体" panose="02010609060101010101" pitchFamily="49" charset="-122"/>
              </a:rPr>
              <a:t>的梦境文本，并过滤掉了“宣称自己不怎么做梦的”“拒绝回答问题”“回答完全不相干内容”的样本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最后</a:t>
            </a:r>
            <a:r>
              <a:rPr kumimoji="1" lang="zh-CN" altLang="en-US">
                <a:ea typeface="黑体" panose="02010609060101010101" pitchFamily="49" charset="-122"/>
              </a:rPr>
              <a:t>，</a:t>
            </a:r>
            <a:r>
              <a:rPr kumimoji="1" lang="en-US" altLang="zh-CN">
                <a:ea typeface="黑体" panose="02010609060101010101" pitchFamily="49" charset="-122"/>
              </a:rPr>
              <a:t>SDDB</a:t>
            </a:r>
            <a:r>
              <a:rPr kumimoji="1" lang="zh-CN" altLang="en-US">
                <a:ea typeface="黑体" panose="02010609060101010101" pitchFamily="49" charset="-122"/>
              </a:rPr>
              <a:t>数据集官网的特征是有限的、分类别的、而且意义并不明确的（例如形如</a:t>
            </a:r>
            <a:r>
              <a:rPr kumimoji="1" lang="zh-HK" altLang="en-US"/>
              <a:t>一串随机数字的</a:t>
            </a:r>
            <a:r>
              <a:rPr kumimoji="1" lang="zh-CN" altLang="en-US">
                <a:ea typeface="黑体" panose="02010609060101010101" pitchFamily="49" charset="-122"/>
              </a:rPr>
              <a:t>梦境</a:t>
            </a:r>
            <a:r>
              <a:rPr kumimoji="1" lang="en-US" altLang="zh-CN">
                <a:ea typeface="黑体" panose="02010609060101010101" pitchFamily="49" charset="-122"/>
              </a:rPr>
              <a:t>ID</a:t>
            </a:r>
            <a:r>
              <a:rPr kumimoji="1" lang="zh-CN" altLang="en-US">
                <a:ea typeface="黑体" panose="02010609060101010101" pitchFamily="49" charset="-122"/>
              </a:rPr>
              <a:t>）</a:t>
            </a:r>
            <a:br>
              <a:rPr kumimoji="1" lang="en-US" altLang="zh-CN">
                <a:ea typeface="黑体" panose="02010609060101010101" pitchFamily="49" charset="-122"/>
              </a:rPr>
            </a:br>
            <a:br>
              <a:rPr kumimoji="1" lang="en-US" altLang="zh-CN">
                <a:ea typeface="黑体" panose="02010609060101010101" pitchFamily="49" charset="-122"/>
              </a:rPr>
            </a:br>
            <a:r>
              <a:rPr kumimoji="1" lang="zh-CN" altLang="en-US">
                <a:ea typeface="黑体" panose="02010609060101010101" pitchFamily="49" charset="-122"/>
              </a:rPr>
              <a:t>因此，为了丰富数据特征，我们调用了语义分析</a:t>
            </a:r>
            <a:r>
              <a:rPr kumimoji="1" lang="en-US" altLang="zh-CN">
                <a:ea typeface="黑体" panose="02010609060101010101" pitchFamily="49" charset="-122"/>
              </a:rPr>
              <a:t>package——VADER</a:t>
            </a:r>
            <a:r>
              <a:rPr kumimoji="1" lang="zh-CN" altLang="en-US">
                <a:ea typeface="黑体" panose="02010609060101010101" pitchFamily="49" charset="-122"/>
              </a:rPr>
              <a:t>，为数据集增添了</a:t>
            </a:r>
            <a:r>
              <a:rPr kumimoji="1" lang="en-US" altLang="zh-CN">
                <a:ea typeface="黑体" panose="02010609060101010101" pitchFamily="49" charset="-122"/>
              </a:rPr>
              <a:t>positivity</a:t>
            </a:r>
            <a:r>
              <a:rPr kumimoji="1" lang="zh-CN" altLang="en-US">
                <a:ea typeface="黑体" panose="02010609060101010101" pitchFamily="49" charset="-122"/>
              </a:rPr>
              <a:t>、</a:t>
            </a:r>
            <a:r>
              <a:rPr kumimoji="1" lang="en-US" altLang="zh-CN">
                <a:ea typeface="黑体" panose="02010609060101010101" pitchFamily="49" charset="-122"/>
              </a:rPr>
              <a:t>negativity</a:t>
            </a:r>
            <a:r>
              <a:rPr kumimoji="1" lang="zh-CN" altLang="en-US">
                <a:ea typeface="黑体" panose="02010609060101010101" pitchFamily="49" charset="-122"/>
              </a:rPr>
              <a:t>、</a:t>
            </a:r>
            <a:r>
              <a:rPr kumimoji="1" lang="en-US" altLang="zh-CN">
                <a:ea typeface="黑体" panose="02010609060101010101" pitchFamily="49" charset="-122"/>
              </a:rPr>
              <a:t>neutrality</a:t>
            </a:r>
            <a:r>
              <a:rPr kumimoji="1" lang="zh-CN" altLang="en-US">
                <a:ea typeface="黑体" panose="02010609060101010101" pitchFamily="49" charset="-122"/>
              </a:rPr>
              <a:t>和</a:t>
            </a:r>
            <a:r>
              <a:rPr kumimoji="1" lang="en-US" altLang="zh-CN">
                <a:ea typeface="黑体" panose="02010609060101010101" pitchFamily="49" charset="-122"/>
              </a:rPr>
              <a:t>compound</a:t>
            </a:r>
            <a:r>
              <a:rPr kumimoji="1" lang="zh-CN" altLang="en-US">
                <a:ea typeface="黑体" panose="02010609060101010101" pitchFamily="49" charset="-122"/>
              </a:rPr>
              <a:t>得分四个特征；我们使用</a:t>
            </a:r>
            <a:r>
              <a:rPr kumimoji="1" lang="en-US" altLang="zh-CN">
                <a:ea typeface="黑体" panose="02010609060101010101" pitchFamily="49" charset="-122"/>
              </a:rPr>
              <a:t>positivity</a:t>
            </a:r>
            <a:r>
              <a:rPr kumimoji="1" lang="zh-CN" altLang="en-US">
                <a:ea typeface="黑体" panose="02010609060101010101" pitchFamily="49" charset="-122"/>
              </a:rPr>
              <a:t>，进一步计算了</a:t>
            </a:r>
            <a:r>
              <a:rPr kumimoji="1" lang="en-US" altLang="zh-CN">
                <a:ea typeface="黑体" panose="02010609060101010101" pitchFamily="49" charset="-122"/>
              </a:rPr>
              <a:t>difference</a:t>
            </a:r>
            <a:r>
              <a:rPr kumimoji="1" lang="zh-CN" altLang="en-US">
                <a:ea typeface="黑体" panose="02010609060101010101" pitchFamily="49" charset="-122"/>
              </a:rPr>
              <a:t>和</a:t>
            </a:r>
            <a:r>
              <a:rPr kumimoji="1" lang="en-US" altLang="zh-CN">
                <a:ea typeface="黑体" panose="02010609060101010101" pitchFamily="49" charset="-122"/>
              </a:rPr>
              <a:t>log</a:t>
            </a:r>
            <a:r>
              <a:rPr kumimoji="1" lang="zh-CN" altLang="en-US">
                <a:ea typeface="黑体" panose="02010609060101010101" pitchFamily="49" charset="-122"/>
              </a:rPr>
              <a:t> </a:t>
            </a:r>
            <a:r>
              <a:rPr kumimoji="1" lang="en-US" altLang="zh-CN">
                <a:ea typeface="黑体" panose="02010609060101010101" pitchFamily="49" charset="-122"/>
              </a:rPr>
              <a:t>ratio</a:t>
            </a:r>
            <a:r>
              <a:rPr kumimoji="1" lang="zh-CN" altLang="en-US">
                <a:ea typeface="黑体" panose="02010609060101010101" pitchFamily="49" charset="-122"/>
              </a:rPr>
              <a:t>两个人为引入的特征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>
                <a:ea typeface="黑体" panose="02010609060101010101" pitchFamily="49" charset="-122"/>
              </a:rPr>
              <a:t>在查看具体网页结构后，我们发现该梦境集是唯一一个同时具备梦境文本和标题的数据集，导致先前的爬虫出现问题；因此针对该数据集，我们特化了爬虫代码，</a:t>
            </a:r>
            <a:r>
              <a:rPr kumimoji="1" lang="zh-HK" altLang="en-US"/>
              <a:t>成功爬取了梦境文本</a:t>
            </a:r>
            <a:r>
              <a:rPr kumimoji="1" lang="zh-CN" altLang="en-US">
                <a:ea typeface="黑体" panose="02010609060101010101" pitchFamily="49" charset="-122"/>
              </a:rPr>
              <a:t>。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HK" altLang="en-US"/>
              <a:t>同样</a:t>
            </a:r>
            <a:r>
              <a:rPr kumimoji="1" lang="zh-CN" altLang="en-US">
                <a:ea typeface="黑体" panose="02010609060101010101" pitchFamily="49" charset="-122"/>
              </a:rPr>
              <a:t>，在阅读</a:t>
            </a:r>
            <a:r>
              <a:rPr kumimoji="1" lang="en-US" altLang="zh-CN" err="1">
                <a:ea typeface="黑体" panose="02010609060101010101" pitchFamily="49" charset="-122"/>
              </a:rPr>
              <a:t>DreamBank</a:t>
            </a:r>
            <a:r>
              <a:rPr kumimoji="1" lang="zh-CN" altLang="en-US">
                <a:ea typeface="黑体" panose="02010609060101010101" pitchFamily="49" charset="-122"/>
              </a:rPr>
              <a:t>梦境文本时，我们发现有些梦境集是用德语书写的。由于目前调用的</a:t>
            </a:r>
            <a:r>
              <a:rPr kumimoji="1" lang="en-US" altLang="zh-CN">
                <a:ea typeface="黑体" panose="02010609060101010101" pitchFamily="49" charset="-122"/>
              </a:rPr>
              <a:t>VADER</a:t>
            </a:r>
            <a:r>
              <a:rPr kumimoji="1" lang="zh-CN" altLang="en-US">
                <a:ea typeface="黑体" panose="02010609060101010101" pitchFamily="49" charset="-122"/>
              </a:rPr>
              <a:t>、</a:t>
            </a:r>
            <a:r>
              <a:rPr kumimoji="1" lang="en-US" altLang="zh-CN">
                <a:ea typeface="黑体" panose="02010609060101010101" pitchFamily="49" charset="-122"/>
              </a:rPr>
              <a:t>empath</a:t>
            </a:r>
            <a:r>
              <a:rPr kumimoji="1" lang="zh-CN" altLang="en-US">
                <a:ea typeface="黑体" panose="02010609060101010101" pitchFamily="49" charset="-122"/>
              </a:rPr>
              <a:t>和</a:t>
            </a:r>
            <a:r>
              <a:rPr kumimoji="1" lang="en-US" altLang="zh-CN">
                <a:ea typeface="黑体" panose="02010609060101010101" pitchFamily="49" charset="-122"/>
              </a:rPr>
              <a:t>spacy</a:t>
            </a:r>
            <a:r>
              <a:rPr kumimoji="1" lang="zh-CN" altLang="en-US">
                <a:ea typeface="黑体" panose="02010609060101010101" pitchFamily="49" charset="-122"/>
              </a:rPr>
              <a:t> </a:t>
            </a:r>
            <a:r>
              <a:rPr kumimoji="1" lang="en-US" altLang="zh-CN">
                <a:ea typeface="黑体" panose="02010609060101010101" pitchFamily="49" charset="-122"/>
              </a:rPr>
              <a:t>package</a:t>
            </a:r>
            <a:r>
              <a:rPr kumimoji="1" lang="zh-CN" altLang="en-US">
                <a:ea typeface="黑体" panose="02010609060101010101" pitchFamily="49" charset="-122"/>
              </a:rPr>
              <a:t>都是最擅长分析英语</a:t>
            </a:r>
            <a:r>
              <a:rPr kumimoji="1" lang="en-US" altLang="zh-CN">
                <a:ea typeface="黑体" panose="02010609060101010101" pitchFamily="49" charset="-122"/>
              </a:rPr>
              <a:t>——</a:t>
            </a:r>
            <a:r>
              <a:rPr kumimoji="1" lang="zh-CN" altLang="en-US">
                <a:ea typeface="黑体" panose="02010609060101010101" pitchFamily="49" charset="-122"/>
              </a:rPr>
              <a:t>甚至有可能无法分析德语的，我们找出了所有用德语书写的梦境集，并调用</a:t>
            </a:r>
            <a:r>
              <a:rPr kumimoji="1" lang="en-US" altLang="zh-CN">
                <a:ea typeface="黑体" panose="02010609060101010101" pitchFamily="49" charset="-122"/>
              </a:rPr>
              <a:t>LLM</a:t>
            </a:r>
            <a:r>
              <a:rPr kumimoji="1" lang="zh-CN" altLang="en-US">
                <a:ea typeface="黑体" panose="02010609060101010101" pitchFamily="49" charset="-122"/>
              </a:rPr>
              <a:t>进行了翻译工作。</a:t>
            </a:r>
            <a:endParaRPr kumimoji="1" lang="en-US" altLang="zh-CN">
              <a:ea typeface="黑体" panose="02010609060101010101" pitchFamily="49" charset="-122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在进行数据清洗和特征构建之后</a:t>
            </a:r>
            <a:r>
              <a:rPr kumimoji="1" lang="zh-CN" altLang="en-US">
                <a:ea typeface="黑体" panose="02010609060101010101" pitchFamily="49" charset="-122"/>
              </a:rPr>
              <a:t>，就可以开始进行</a:t>
            </a:r>
            <a:r>
              <a:rPr kumimoji="1" lang="en-US" altLang="zh-CN">
                <a:ea typeface="黑体" panose="02010609060101010101" pitchFamily="49" charset="-122"/>
              </a:rPr>
              <a:t>Exploratory</a:t>
            </a:r>
            <a:r>
              <a:rPr kumimoji="1" lang="zh-CN" altLang="en-US">
                <a:ea typeface="黑体" panose="02010609060101010101" pitchFamily="49" charset="-122"/>
              </a:rPr>
              <a:t> </a:t>
            </a:r>
            <a:r>
              <a:rPr kumimoji="1" lang="en-US" altLang="zh-CN">
                <a:ea typeface="黑体" panose="02010609060101010101" pitchFamily="49" charset="-122"/>
              </a:rPr>
              <a:t>Data</a:t>
            </a:r>
            <a:r>
              <a:rPr kumimoji="1" lang="zh-CN" altLang="en-US">
                <a:ea typeface="黑体" panose="02010609060101010101" pitchFamily="49" charset="-122"/>
              </a:rPr>
              <a:t> </a:t>
            </a:r>
            <a:r>
              <a:rPr kumimoji="1" lang="en-US" altLang="zh-CN">
                <a:ea typeface="黑体" panose="02010609060101010101" pitchFamily="49" charset="-122"/>
              </a:rPr>
              <a:t>Analysis</a:t>
            </a:r>
            <a:r>
              <a:rPr kumimoji="1" lang="zh-CN" altLang="en-US">
                <a:ea typeface="黑体" panose="02010609060101010101" pitchFamily="49" charset="-122"/>
              </a:rPr>
              <a:t>（如果这三个词太长了，就直接说</a:t>
            </a:r>
            <a:r>
              <a:rPr kumimoji="1" lang="en-US" altLang="zh-CN">
                <a:ea typeface="黑体" panose="02010609060101010101" pitchFamily="49" charset="-122"/>
              </a:rPr>
              <a:t>EDA</a:t>
            </a:r>
            <a:r>
              <a:rPr kumimoji="1" lang="zh-CN" altLang="en-US">
                <a:ea typeface="黑体" panose="02010609060101010101" pitchFamily="49" charset="-122"/>
              </a:rPr>
              <a:t>）了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这个现象巧妙地印证了一个重要的社会心理学现象</a:t>
            </a:r>
            <a:r>
              <a:rPr kumimoji="1" lang="en-US" altLang="zh-CN">
                <a:ea typeface="黑体" panose="02010609060101010101" pitchFamily="49" charset="-122"/>
              </a:rPr>
              <a:t>——</a:t>
            </a:r>
            <a:r>
              <a:rPr kumimoji="1" lang="zh-CN" altLang="en-US">
                <a:ea typeface="黑体" panose="02010609060101010101" pitchFamily="49" charset="-122"/>
              </a:rPr>
              <a:t>波丽安娜法则</a:t>
            </a:r>
            <a:endParaRPr kumimoji="1" lang="en-US" altLang="zh-CN">
              <a:ea typeface="黑体" panose="02010609060101010101" pitchFamily="49" charset="-122"/>
            </a:endParaRPr>
          </a:p>
          <a:p>
            <a:endParaRPr kumimoji="1" lang="en-US" altLang="zh-HK"/>
          </a:p>
          <a:p>
            <a:r>
              <a:rPr kumimoji="1" lang="zh-CN" altLang="en-US">
                <a:ea typeface="黑体" panose="02010609060101010101" pitchFamily="49" charset="-122"/>
              </a:rPr>
              <a:t>波丽安娜法则表示（看</a:t>
            </a:r>
            <a:r>
              <a:rPr kumimoji="1" lang="en-US" altLang="zh-CN">
                <a:ea typeface="黑体" panose="02010609060101010101" pitchFamily="49" charset="-122"/>
              </a:rPr>
              <a:t>Wikipedia</a:t>
            </a:r>
            <a:r>
              <a:rPr kumimoji="1" lang="zh-CN" altLang="en-US">
                <a:ea typeface="黑体" panose="02010609060101010101" pitchFamily="49" charset="-122"/>
              </a:rPr>
              <a:t>定义）：在潜意识情况下，人的精神状态普遍偏积极；而在清醒状态下，人的精神普遍偏消极。这与我们先前发现“大部分梦境的积极程度大于等于负面程度，而负面程度大的梦境往往与现实中存在的重大问题挂钩”的结论是相符合的。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我们调用的</a:t>
            </a:r>
            <a:r>
              <a:rPr kumimoji="1" lang="en-US" altLang="zh-HK"/>
              <a:t>VADER package</a:t>
            </a:r>
            <a:r>
              <a:rPr kumimoji="1" lang="zh-HK" altLang="en-US"/>
              <a:t>可以读取</a:t>
            </a:r>
            <a:r>
              <a:rPr kumimoji="1" lang="en-US" altLang="zh-HK" err="1"/>
              <a:t>DreamBank</a:t>
            </a:r>
            <a:r>
              <a:rPr kumimoji="1" lang="zh-HK" altLang="en-US"/>
              <a:t>梦境文本的积极程度</a:t>
            </a:r>
            <a:r>
              <a:rPr kumimoji="1" lang="zh-CN" altLang="en-US">
                <a:ea typeface="黑体" panose="02010609060101010101" pitchFamily="49" charset="-122"/>
              </a:rPr>
              <a:t>（</a:t>
            </a:r>
            <a:r>
              <a:rPr kumimoji="1" lang="en-US" altLang="zh-CN">
                <a:ea typeface="黑体" panose="02010609060101010101" pitchFamily="49" charset="-122"/>
              </a:rPr>
              <a:t>positivity</a:t>
            </a:r>
            <a:r>
              <a:rPr kumimoji="1" lang="zh-CN" altLang="en-US">
                <a:ea typeface="黑体" panose="02010609060101010101" pitchFamily="49" charset="-122"/>
              </a:rPr>
              <a:t>）和消极程度（</a:t>
            </a:r>
            <a:r>
              <a:rPr kumimoji="1" lang="en-US" altLang="zh-CN">
                <a:ea typeface="黑体" panose="02010609060101010101" pitchFamily="49" charset="-122"/>
              </a:rPr>
              <a:t>negativity</a:t>
            </a:r>
            <a:r>
              <a:rPr kumimoji="1" lang="zh-CN" altLang="en-US">
                <a:ea typeface="黑体" panose="02010609060101010101" pitchFamily="49" charset="-122"/>
              </a:rPr>
              <a:t>）。为了衡量不同梦境集的感情色彩，我们</a:t>
            </a:r>
            <a:r>
              <a:rPr kumimoji="1" lang="en-US" altLang="zh-CN">
                <a:ea typeface="黑体" panose="02010609060101010101" pitchFamily="49" charset="-122"/>
              </a:rPr>
              <a:t>plot</a:t>
            </a:r>
            <a:r>
              <a:rPr kumimoji="1" lang="zh-CN" altLang="en-US">
                <a:ea typeface="黑体" panose="02010609060101010101" pitchFamily="49" charset="-122"/>
              </a:rPr>
              <a:t>了每个梦境集每个梦境的</a:t>
            </a:r>
            <a:r>
              <a:rPr kumimoji="1" lang="en-US" altLang="zh-CN">
                <a:ea typeface="黑体" panose="02010609060101010101" pitchFamily="49" charset="-122"/>
              </a:rPr>
              <a:t>positivity</a:t>
            </a:r>
            <a:r>
              <a:rPr kumimoji="1" lang="zh-CN" altLang="en-US">
                <a:ea typeface="黑体" panose="02010609060101010101" pitchFamily="49" charset="-122"/>
              </a:rPr>
              <a:t>和</a:t>
            </a:r>
            <a:r>
              <a:rPr kumimoji="1" lang="en-US" altLang="zh-CN">
                <a:ea typeface="黑体" panose="02010609060101010101" pitchFamily="49" charset="-122"/>
              </a:rPr>
              <a:t>negativity</a:t>
            </a:r>
            <a:r>
              <a:rPr kumimoji="1" lang="zh-CN" altLang="en-US">
                <a:ea typeface="黑体" panose="02010609060101010101" pitchFamily="49" charset="-122"/>
              </a:rPr>
              <a:t>值。</a:t>
            </a:r>
            <a:r>
              <a:rPr kumimoji="1" lang="en-US" altLang="zh-CN">
                <a:ea typeface="黑体" panose="02010609060101010101" pitchFamily="49" charset="-122"/>
              </a:rPr>
              <a:t>Positivity</a:t>
            </a:r>
            <a:r>
              <a:rPr kumimoji="1" lang="zh-CN" altLang="en-US">
                <a:ea typeface="黑体" panose="02010609060101010101" pitchFamily="49" charset="-122"/>
              </a:rPr>
              <a:t>值用红点代表，而</a:t>
            </a:r>
            <a:r>
              <a:rPr kumimoji="1" lang="en-US" altLang="zh-CN">
                <a:ea typeface="黑体" panose="02010609060101010101" pitchFamily="49" charset="-122"/>
              </a:rPr>
              <a:t>negativity</a:t>
            </a:r>
            <a:r>
              <a:rPr kumimoji="1" lang="zh-CN" altLang="en-US">
                <a:ea typeface="黑体" panose="02010609060101010101" pitchFamily="49" charset="-122"/>
              </a:rPr>
              <a:t>用蓝点代表</a:t>
            </a:r>
            <a:br>
              <a:rPr kumimoji="1" lang="en-US" altLang="zh-CN">
                <a:ea typeface="黑体" panose="02010609060101010101" pitchFamily="49" charset="-122"/>
              </a:rPr>
            </a:br>
            <a:br>
              <a:rPr kumimoji="1" lang="en-US" altLang="zh-CN">
                <a:ea typeface="黑体" panose="02010609060101010101" pitchFamily="49" charset="-122"/>
              </a:rPr>
            </a:br>
            <a:r>
              <a:rPr kumimoji="1" lang="zh-CN" altLang="en-US">
                <a:ea typeface="黑体" panose="02010609060101010101" pitchFamily="49" charset="-122"/>
              </a:rPr>
              <a:t>可以看见，大部分梦境集都会有很积极的梦境，也会有很消极的梦境，梦境集总体积极程度和消极程度类似；但是我们可以注意到，有个别数据集的积极程度是明显小于消极程度的。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同样的情况在</a:t>
            </a:r>
            <a:r>
              <a:rPr kumimoji="1" lang="en-US" altLang="zh-HK"/>
              <a:t>SDDB</a:t>
            </a:r>
            <a:r>
              <a:rPr kumimoji="1" lang="zh-HK" altLang="en-US"/>
              <a:t>数据集上有基本类似体现</a:t>
            </a:r>
            <a:r>
              <a:rPr kumimoji="1" lang="zh-CN" altLang="en-US">
                <a:ea typeface="黑体" panose="02010609060101010101" pitchFamily="49" charset="-122"/>
              </a:rPr>
              <a:t>，不过</a:t>
            </a:r>
            <a:r>
              <a:rPr kumimoji="1" lang="en-US" altLang="zh-CN">
                <a:ea typeface="黑体" panose="02010609060101010101" pitchFamily="49" charset="-122"/>
              </a:rPr>
              <a:t>SDDB</a:t>
            </a:r>
            <a:r>
              <a:rPr kumimoji="1" lang="zh-CN" altLang="en-US">
                <a:ea typeface="黑体" panose="02010609060101010101" pitchFamily="49" charset="-122"/>
              </a:rPr>
              <a:t>数据集中出现了积极程度远大于消极程度的梦境集合。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除此以外</a:t>
            </a:r>
            <a:r>
              <a:rPr kumimoji="1" lang="zh-CN" altLang="en-US">
                <a:ea typeface="黑体" panose="02010609060101010101" pitchFamily="49" charset="-122"/>
              </a:rPr>
              <a:t>，我们对一些常见的有关梦境的猜想进行了验证</a:t>
            </a:r>
            <a:br>
              <a:rPr kumimoji="1" lang="en-US" altLang="zh-CN">
                <a:ea typeface="黑体" panose="02010609060101010101" pitchFamily="49" charset="-122"/>
              </a:rPr>
            </a:br>
            <a:br>
              <a:rPr kumimoji="1" lang="en-US" altLang="zh-CN">
                <a:ea typeface="黑体" panose="02010609060101010101" pitchFamily="49" charset="-122"/>
              </a:rPr>
            </a:br>
            <a:r>
              <a:rPr kumimoji="1" lang="zh-CN" altLang="en-US">
                <a:ea typeface="黑体" panose="02010609060101010101" pitchFamily="49" charset="-122"/>
              </a:rPr>
              <a:t>我们选取了</a:t>
            </a:r>
            <a:r>
              <a:rPr kumimoji="1" lang="zh-HK" altLang="en-US"/>
              <a:t>仅包含单个性别或者单个年龄段的梦境集</a:t>
            </a:r>
            <a:r>
              <a:rPr kumimoji="1" lang="zh-CN" altLang="en-US">
                <a:ea typeface="黑体" panose="02010609060101010101" pitchFamily="49" charset="-122"/>
              </a:rPr>
              <a:t>，并衡量了被试者梦境文本中常见特征的得分</a:t>
            </a:r>
            <a:br>
              <a:rPr kumimoji="1" lang="en-US" altLang="zh-CN">
                <a:ea typeface="黑体" panose="02010609060101010101" pitchFamily="49" charset="-122"/>
              </a:rPr>
            </a:br>
            <a:br>
              <a:rPr kumimoji="1" lang="en-US" altLang="zh-CN">
                <a:ea typeface="黑体" panose="02010609060101010101" pitchFamily="49" charset="-122"/>
              </a:rPr>
            </a:br>
            <a:r>
              <a:rPr kumimoji="1" lang="zh-CN" altLang="en-US">
                <a:ea typeface="黑体" panose="02010609060101010101" pitchFamily="49" charset="-122"/>
              </a:rPr>
              <a:t>我们发现，一般而言，男性和女性的梦境在诸如家庭、运动、暴力等常见主题中，并没有显著的得分差异；因此一些常见的误解，例如某一个性别比另一个性别更容易做负面的梦等，在统计意义上并没有明确的证据。</a:t>
            </a:r>
            <a:br>
              <a:rPr kumimoji="1" lang="en-US" altLang="zh-CN">
                <a:ea typeface="黑体" panose="02010609060101010101" pitchFamily="49" charset="-122"/>
              </a:rPr>
            </a:br>
            <a:br>
              <a:rPr kumimoji="1" lang="en-US" altLang="zh-CN">
                <a:ea typeface="黑体" panose="02010609060101010101" pitchFamily="49" charset="-122"/>
              </a:rPr>
            </a:br>
            <a:r>
              <a:rPr kumimoji="1" lang="zh-CN" altLang="en-US">
                <a:ea typeface="黑体" panose="02010609060101010101" pitchFamily="49" charset="-122"/>
              </a:rPr>
              <a:t>在很多情况下，不同年龄段的被试在梦境中展现的差异也并不大，不过在特定方面可以体现一定趋势，例如儿童梦境中关于运动的描述</a:t>
            </a:r>
            <a:r>
              <a:rPr kumimoji="1" lang="zh-HK" altLang="en-US"/>
              <a:t>大于成人</a:t>
            </a:r>
            <a:r>
              <a:rPr kumimoji="1" lang="zh-CN" altLang="en-US">
                <a:ea typeface="黑体" panose="02010609060101010101" pitchFamily="49" charset="-122"/>
              </a:rPr>
              <a:t>，而成人梦境中关于交流的描述大于儿童等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然而值得注意的是</a:t>
            </a:r>
            <a:r>
              <a:rPr kumimoji="1" lang="zh-CN" altLang="en-US">
                <a:ea typeface="黑体" panose="02010609060101010101" pitchFamily="49" charset="-122"/>
              </a:rPr>
              <a:t>，在初步的分析中，我们也确实见到过“日常生活和普通人不太一样”的样本，而这些样本容易呈现负面色彩远大于正面色彩的情况。</a:t>
            </a:r>
            <a:endParaRPr kumimoji="1" lang="en-US" altLang="zh-CN">
              <a:ea typeface="黑体" panose="02010609060101010101" pitchFamily="49" charset="-122"/>
            </a:endParaRPr>
          </a:p>
          <a:p>
            <a:endParaRPr kumimoji="1" lang="en-US" altLang="zh-CN">
              <a:ea typeface="黑体" panose="02010609060101010101" pitchFamily="49" charset="-122"/>
            </a:endParaRPr>
          </a:p>
          <a:p>
            <a:r>
              <a:rPr kumimoji="1" lang="zh-CN" altLang="en-US">
                <a:ea typeface="黑体" panose="02010609060101010101" pitchFamily="49" charset="-122"/>
              </a:rPr>
              <a:t>为了细致探究这个现象，我们选取了两类处于特殊时期的梦境集</a:t>
            </a:r>
            <a:r>
              <a:rPr kumimoji="1" lang="en-US" altLang="zh-CN">
                <a:ea typeface="黑体" panose="02010609060101010101" pitchFamily="49" charset="-122"/>
              </a:rPr>
              <a:t>——</a:t>
            </a:r>
            <a:r>
              <a:rPr kumimoji="1" lang="zh-CN" altLang="en-US">
                <a:ea typeface="黑体" panose="02010609060101010101" pitchFamily="49" charset="-122"/>
              </a:rPr>
              <a:t>一类来自疫情时期的梦境集，另一类来自</a:t>
            </a:r>
            <a:r>
              <a:rPr kumimoji="1" lang="en-US" altLang="zh-CN">
                <a:ea typeface="黑体" panose="02010609060101010101" pitchFamily="49" charset="-122"/>
              </a:rPr>
              <a:t>2020</a:t>
            </a:r>
            <a:r>
              <a:rPr kumimoji="1" lang="zh-CN" altLang="en-US">
                <a:ea typeface="黑体" panose="02010609060101010101" pitchFamily="49" charset="-122"/>
              </a:rPr>
              <a:t>年五月底乔治</a:t>
            </a:r>
            <a:r>
              <a:rPr kumimoji="1" lang="en-US" altLang="zh-CN">
                <a:ea typeface="黑体" panose="02010609060101010101" pitchFamily="49" charset="-122"/>
              </a:rPr>
              <a:t>·</a:t>
            </a:r>
            <a:r>
              <a:rPr kumimoji="1" lang="zh-CN" altLang="en-US">
                <a:ea typeface="黑体" panose="02010609060101010101" pitchFamily="49" charset="-122"/>
              </a:rPr>
              <a:t>弗洛伊德事件附近的梦境集。并探索了这两类梦境集和正常时期采取的基线梦境集是否存差异</a:t>
            </a:r>
            <a:br>
              <a:rPr kumimoji="1" lang="en-US" altLang="zh-CN">
                <a:ea typeface="黑体" panose="02010609060101010101" pitchFamily="49" charset="-122"/>
              </a:rPr>
            </a:br>
            <a:br>
              <a:rPr kumimoji="1" lang="en-US" altLang="zh-CN">
                <a:ea typeface="黑体" panose="02010609060101010101" pitchFamily="49" charset="-122"/>
              </a:rPr>
            </a:br>
            <a:r>
              <a:rPr kumimoji="1" lang="zh-CN" altLang="en-US">
                <a:ea typeface="黑体" panose="02010609060101010101" pitchFamily="49" charset="-122"/>
              </a:rPr>
              <a:t>在对比疫情梦境集和基线梦境集时，我们发现疫情时期的人普遍会用更短的文字描述自己的梦境，同时梦境中健康相关的主题和负面情绪显著高涨；这基本上印证了疫情给社会带来的生理威胁和心理焦虑。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>
                <a:ea typeface="黑体" panose="02010609060101010101" pitchFamily="49" charset="-122"/>
              </a:rPr>
              <a:t>接下来是我们小组的第二个研究主题：</a:t>
            </a:r>
            <a:endParaRPr kumimoji="1" lang="en-US" altLang="zh-CN">
              <a:ea typeface="黑体" panose="02010609060101010101" pitchFamily="49" charset="-122"/>
            </a:endParaRPr>
          </a:p>
          <a:p>
            <a:endParaRPr kumimoji="1" lang="en-US" altLang="zh-CN">
              <a:ea typeface="黑体" panose="02010609060101010101" pitchFamily="49" charset="-122"/>
            </a:endParaRPr>
          </a:p>
          <a:p>
            <a:r>
              <a:rPr kumimoji="1" lang="zh-CN" altLang="en-US">
                <a:ea typeface="黑体" panose="02010609060101010101" pitchFamily="49" charset="-122"/>
              </a:rPr>
              <a:t>这部分主要研究我们的潜意识中存在的物理法则</a:t>
            </a:r>
            <a:endParaRPr kumimoji="1" lang="en-US" altLang="zh-CN">
              <a:ea typeface="黑体" panose="02010609060101010101" pitchFamily="49" charset="-122"/>
            </a:endParaRPr>
          </a:p>
          <a:p>
            <a:endParaRPr kumimoji="1" lang="en-US" altLang="zh-HK"/>
          </a:p>
          <a:p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这部分我们研究的对象是梦境中出现的人物实体，研究问题是这些实体出现的频率存在什么规律？</a:t>
            </a:r>
            <a:endParaRPr kumimoji="1" lang="en-US" altLang="zh-CN"/>
          </a:p>
          <a:p>
            <a:endParaRPr kumimoji="1" lang="en-US" altLang="zh-HK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/>
              <a:t>我们猜测，梦境中</a:t>
            </a:r>
            <a:r>
              <a:rPr kumimoji="1" lang="zh-CN" altLang="en-US" b="1"/>
              <a:t>不同人物实体出现的频率</a:t>
            </a:r>
            <a:r>
              <a:rPr kumimoji="1" lang="zh-CN" altLang="en-US"/>
              <a:t>与</a:t>
            </a:r>
            <a:r>
              <a:rPr kumimoji="1" lang="zh-CN" altLang="en-US" b="1"/>
              <a:t>以他们出现频率从大到小排序为基础的排名</a:t>
            </a:r>
            <a:r>
              <a:rPr kumimoji="1" lang="zh-CN" altLang="en-US"/>
              <a:t>之间存在着某种数学规律。这一规律可能是线性的，或者是指数型的，亦或者是对数型的。这需要我们进一步探讨</a:t>
            </a:r>
            <a:endParaRPr kumimoji="1" lang="zh-HK" altLang="en-US"/>
          </a:p>
          <a:p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我们所需要的两个变量的定义如下：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首先是人物实体出现的频率</a:t>
            </a:r>
            <a:r>
              <a:rPr kumimoji="1" lang="en-US" altLang="zh-CN"/>
              <a:t>frequency</a:t>
            </a:r>
            <a:r>
              <a:rPr kumimoji="1" lang="zh-CN" altLang="en-US"/>
              <a:t>，这一变量的统计需要考虑到虚构的东西来代指人类、动物拟人，或者同一人的近似称呼等情况，这些复杂情况也决定了我们后面需要使用</a:t>
            </a:r>
            <a:r>
              <a:rPr kumimoji="1" lang="en-US" altLang="zh-CN"/>
              <a:t>llm</a:t>
            </a:r>
            <a:r>
              <a:rPr kumimoji="1" lang="zh-CN" altLang="en-US"/>
              <a:t>进行数据处理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而</a:t>
            </a:r>
            <a:r>
              <a:rPr kumimoji="1" lang="en-US" altLang="zh-CN"/>
              <a:t>rank</a:t>
            </a:r>
            <a:r>
              <a:rPr kumimoji="1" lang="zh-CN" altLang="en-US"/>
              <a:t>的计算则较为方便，对</a:t>
            </a:r>
            <a:r>
              <a:rPr kumimoji="1" lang="en-US" altLang="zh-CN"/>
              <a:t>frequency</a:t>
            </a:r>
            <a:r>
              <a:rPr kumimoji="1" lang="zh-CN" altLang="en-US"/>
              <a:t>进行降序排列并标号即可</a:t>
            </a:r>
            <a:endParaRPr kumimoji="1" lang="en-US" altLang="zh-CN"/>
          </a:p>
          <a:p>
            <a:endParaRPr kumimoji="1" lang="en-US" altLang="zh-HK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我们的数据来源是</a:t>
            </a:r>
            <a:r>
              <a:rPr kumimoji="1" lang="en-US" altLang="zh-CN"/>
              <a:t>Dreambank</a:t>
            </a:r>
            <a:r>
              <a:rPr kumimoji="1" lang="zh-CN" altLang="en-US"/>
              <a:t>爬虫所得的四万七千多条梦境数据，数据特征包括梦境归属的梦境集</a:t>
            </a:r>
            <a:r>
              <a:rPr kumimoji="1" lang="en-US" altLang="zh-CN"/>
              <a:t>series</a:t>
            </a:r>
            <a:r>
              <a:rPr kumimoji="1" lang="zh-CN" altLang="en-US"/>
              <a:t>、内容和总词数，需要重点关注的是前两项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在我们处理的</a:t>
            </a:r>
            <a:r>
              <a:rPr kumimoji="1" lang="en-US" altLang="zh-CN"/>
              <a:t>7</a:t>
            </a:r>
            <a:r>
              <a:rPr kumimoji="1" lang="zh-CN" altLang="en-US"/>
              <a:t>个数据集中，我们先进行了数据验证，发现所得的结论符合我们的预期，这一结论我们稍后再讲</a:t>
            </a:r>
            <a:endParaRPr kumimoji="1" lang="en-US" altLang="zh-CN"/>
          </a:p>
          <a:p>
            <a:endParaRPr kumimoji="1" lang="en-US" altLang="zh-HK"/>
          </a:p>
          <a:p>
            <a:r>
              <a:rPr kumimoji="1" lang="zh-CN" altLang="en-US"/>
              <a:t>而更进一步大批量的处理，我们则结合了我们研究的第三部分，因为这一部分也需要使用大模型进行文本分析，所以我们后续在进行更大批量的数据处理时结合了后续研究的需要，利用大模型输出了两部分研究可以共同使用的结果，如下图：</a:t>
            </a:r>
            <a:endParaRPr kumimoji="1" lang="en-US" altLang="zh-CN"/>
          </a:p>
          <a:p>
            <a:endParaRPr kumimoji="1" lang="en-US" altLang="zh-HK"/>
          </a:p>
          <a:p>
            <a:r>
              <a:rPr kumimoji="1" lang="zh-CN" altLang="en-US"/>
              <a:t>不过由于数据量较大，受限于</a:t>
            </a:r>
            <a:r>
              <a:rPr kumimoji="1" lang="en-US" altLang="zh-CN"/>
              <a:t>token</a:t>
            </a:r>
            <a:r>
              <a:rPr kumimoji="1" lang="zh-CN" altLang="en-US"/>
              <a:t>额度，我们没有能对爬取到的所有数据都进行处理，但是所得的</a:t>
            </a:r>
            <a:r>
              <a:rPr kumimoji="1" lang="en-US" altLang="zh-CN"/>
              <a:t>61</a:t>
            </a:r>
            <a:r>
              <a:rPr kumimoji="1" lang="zh-CN" altLang="en-US"/>
              <a:t>个数据集共计两万多条数据也足以使用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我们首先对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两个变量进行了可视化处理，发现两者之间似乎存在类似幂函数，或者指数函数，又或是高次多项式之间的关系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HK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这否定了我们对于线性关系和对数型关系的猜测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但具体两者符合什么数学关系，还需要我们进一步验证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HK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而我们在文献中的找到了可以参考的结论：</a:t>
            </a:r>
            <a:endParaRPr kumimoji="1" lang="en-US" altLang="zh-CN"/>
          </a:p>
          <a:p>
            <a:endParaRPr kumimoji="1" lang="en-US" altLang="zh-HK"/>
          </a:p>
          <a:p>
            <a:r>
              <a:rPr kumimoji="1" lang="zh-CN" altLang="en-US"/>
              <a:t>即梦境中实体出现的频率符合幂律分布</a:t>
            </a:r>
            <a:endParaRPr kumimoji="1" lang="en-US" altLang="zh-CN"/>
          </a:p>
          <a:p>
            <a:endParaRPr kumimoji="1" lang="en-US" altLang="zh-HK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/>
              <a:t>也就是说，我们所定义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两个变量之间是幂函数式的对应关系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直观来看，也就是它们各自的对数值应该存在较强的线性关系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我们随后对全部数据都进行了可视化处理，这一次我们以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的对数值作为两个变量出图，的确发现了较为明显的线性关系</a:t>
            </a:r>
            <a:endParaRPr kumimoji="1" lang="en-US" altLang="zh-CN"/>
          </a:p>
          <a:p>
            <a:endParaRPr kumimoji="1" lang="en-US" altLang="zh-C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我们还对计算所得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61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组线性拟合的方进行了可视化处理，绘制了箱线图：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HK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我们发现，大部分数据线性拟合关系较好，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方除样本较少的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college-m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组外，大部分均大于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0.9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因此可以认为幂律分布假设成立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接下来是我们这一部分的结论：</a:t>
            </a:r>
            <a:endParaRPr kumimoji="1" lang="en-US" altLang="zh-CN"/>
          </a:p>
          <a:p>
            <a:endParaRPr kumimoji="1" lang="en-US" altLang="zh-HK"/>
          </a:p>
          <a:p>
            <a:r>
              <a:rPr kumimoji="1" lang="zh-CN" altLang="en-US"/>
              <a:t>首先是我们的参考文献，这篇文献的来源期刊虽然比较小众，但是这篇文献本身的内容还是比较有趣且有意义的</a:t>
            </a:r>
            <a:endParaRPr kumimoji="1" lang="en-US" altLang="zh-CN"/>
          </a:p>
          <a:p>
            <a:endParaRPr kumimoji="1" lang="en-US" altLang="zh-HK"/>
          </a:p>
          <a:p>
            <a:r>
              <a:rPr kumimoji="1" lang="zh-CN" altLang="en-US"/>
              <a:t>其次是我们工作的贡献：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原文中与我们的研究一样也是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DreamBank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数据库。但是因为发布在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2020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年，那时还没有大模型，数据主要通过人工标注，存在工作量大且繁琐的问题（虽然文章的主要内容不是这部分，而是后续基于随机游走模型的理论解释）</a:t>
            </a:r>
            <a:endParaRPr kumimoji="1" lang="en-US" altLang="zh-CN"/>
          </a:p>
          <a:p>
            <a:endParaRPr kumimoji="1" lang="en-US" altLang="zh-HK"/>
          </a:p>
          <a:p>
            <a:r>
              <a:rPr kumimoji="1" lang="zh-CN" altLang="en-US"/>
              <a:t>而我们的小组则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挖掘了</a:t>
            </a:r>
            <a:r>
              <a:rPr kumimoji="1" lang="en-US" altLang="zh-CN" sz="1200">
                <a:latin typeface="黑体" panose="02010609060101010101" pitchFamily="49" charset="-122"/>
                <a:ea typeface="黑体" panose="02010609060101010101" pitchFamily="49" charset="-122"/>
              </a:rPr>
              <a:t>DreamBank</a:t>
            </a:r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大批量数据，并且也通过大模型处理了大部分挖掘到的数据。</a:t>
            </a:r>
            <a:endParaRPr kumimoji="1" lang="en-US" altLang="zh-CN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HK" sz="12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200">
                <a:latin typeface="黑体" panose="02010609060101010101" pitchFamily="49" charset="-122"/>
                <a:ea typeface="黑体" panose="02010609060101010101" pitchFamily="49" charset="-122"/>
              </a:rPr>
              <a:t>后续如有可能，我们也许会对这一规律的深层机制也进行一些探究。</a:t>
            </a:r>
            <a:endParaRPr kumimoji="1" lang="en-US" altLang="zh-HK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接下来是第三部分，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HK" altLang="en-US"/>
              <a:t>在进行任何分析之前</a:t>
            </a:r>
            <a:r>
              <a:rPr kumimoji="1" lang="zh-CN" altLang="en-US">
                <a:ea typeface="黑体" panose="02010609060101010101" pitchFamily="49" charset="-122"/>
              </a:rPr>
              <a:t>，我们需要对</a:t>
            </a:r>
            <a:r>
              <a:rPr kumimoji="1" lang="en-US" altLang="zh-CN" err="1">
                <a:ea typeface="黑体" panose="02010609060101010101" pitchFamily="49" charset="-122"/>
              </a:rPr>
              <a:t>DreamBank</a:t>
            </a:r>
            <a:r>
              <a:rPr kumimoji="1" lang="zh-CN" altLang="en-US">
                <a:ea typeface="黑体" panose="02010609060101010101" pitchFamily="49" charset="-122"/>
              </a:rPr>
              <a:t>和</a:t>
            </a:r>
            <a:r>
              <a:rPr kumimoji="1" lang="en-US" altLang="zh-CN">
                <a:ea typeface="黑体" panose="02010609060101010101" pitchFamily="49" charset="-122"/>
              </a:rPr>
              <a:t>SDDB</a:t>
            </a:r>
            <a:r>
              <a:rPr kumimoji="1" lang="zh-CN" altLang="en-US">
                <a:ea typeface="黑体" panose="02010609060101010101" pitchFamily="49" charset="-122"/>
              </a:rPr>
              <a:t>的数据进行清洗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小结部分</a:t>
            </a:r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D7D12-A4D8-084F-955E-3EF572AE096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  <a:endParaRPr kumimoji="1" lang="zh-TW" altLang="en-US" dirty="0"/>
          </a:p>
          <a:p>
            <a:pPr lvl="1"/>
            <a:r>
              <a:rPr kumimoji="1" lang="zh-TW" altLang="en-US" dirty="0"/>
              <a:t>第二層</a:t>
            </a:r>
            <a:endParaRPr kumimoji="1" lang="zh-TW" altLang="en-US" dirty="0"/>
          </a:p>
          <a:p>
            <a:pPr lvl="2"/>
            <a:r>
              <a:rPr kumimoji="1" lang="zh-TW" altLang="en-US" dirty="0"/>
              <a:t>第三層</a:t>
            </a:r>
            <a:endParaRPr kumimoji="1" lang="zh-TW" altLang="en-US" dirty="0"/>
          </a:p>
          <a:p>
            <a:pPr lvl="3"/>
            <a:r>
              <a:rPr kumimoji="1" lang="zh-TW" altLang="en-US" dirty="0"/>
              <a:t>第四層</a:t>
            </a:r>
            <a:endParaRPr kumimoji="1" lang="zh-TW" altLang="en-US" dirty="0"/>
          </a:p>
          <a:p>
            <a:pPr lvl="4"/>
            <a:r>
              <a:rPr kumimoji="1" lang="zh-TW" altLang="en-US" dirty="0"/>
              <a:t>第五層</a:t>
            </a:r>
            <a:endParaRPr kumimoji="1" lang="zh-HK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黑体" panose="02010609060101010101" pitchFamily="49" charset="-122"/>
              </a:defRPr>
            </a:lvl1pPr>
          </a:lstStyle>
          <a:p>
            <a:fld id="{B7975FA4-BA1C-7042-9B25-411320023C68}" type="datetimeFigureOut">
              <a:rPr kumimoji="1" lang="zh-HK" altLang="en-US" smtClean="0"/>
            </a:fld>
            <a:endParaRPr kumimoji="1"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黑体" panose="02010609060101010101" pitchFamily="49" charset="-122"/>
              </a:defRPr>
            </a:lvl1pPr>
          </a:lstStyle>
          <a:p>
            <a:endParaRPr kumimoji="1"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黑体" panose="02010609060101010101" pitchFamily="49" charset="-122"/>
              </a:defRPr>
            </a:lvl1pPr>
          </a:lstStyle>
          <a:p>
            <a:fld id="{40FD7D3E-6D6A-E14D-8EAD-979421DFB083}" type="slidenum">
              <a:rPr kumimoji="1" lang="zh-HK" altLang="en-US" smtClean="0"/>
            </a:fld>
            <a:endParaRPr kumimoji="1"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pitchFamily="49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黑体" panose="02010609060101010101" pitchFamily="49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doi.org/10.35469/poligrafi.2023.412" TargetMode="Externa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customXml" Target="../ink/ink2.xml"/><Relationship Id="rId3" Type="http://schemas.openxmlformats.org/officeDocument/2006/relationships/image" Target="../media/image32.png"/><Relationship Id="rId2" Type="http://schemas.openxmlformats.org/officeDocument/2006/relationships/customXml" Target="../ink/ink1.xml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HK" altLang="en-US" b="1"/>
              <a:t>梦的结构</a:t>
            </a:r>
            <a:endParaRPr kumimoji="1" lang="zh-HK" altLang="en-US" b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kumimoji="1" lang="en-US" altLang="zh-HK" b="1"/>
          </a:p>
          <a:p>
            <a:endParaRPr kumimoji="1" lang="en-US" altLang="zh-HK" b="1"/>
          </a:p>
          <a:p>
            <a:r>
              <a:rPr kumimoji="1" lang="zh-CN" altLang="en-US" b="1">
                <a:latin typeface="PMingLiU" panose="02020500000000000000" pitchFamily="18" charset="-120"/>
                <a:ea typeface="PMingLiU" panose="02020500000000000000" pitchFamily="18" charset="-120"/>
              </a:rPr>
              <a:t>小组成员：</a:t>
            </a:r>
            <a:endParaRPr kumimoji="1" lang="en-US" altLang="zh-CN" b="1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kumimoji="1" lang="zh-CN" altLang="en-US" b="1">
                <a:latin typeface="PMingLiU" panose="02020500000000000000" pitchFamily="18" charset="-120"/>
                <a:ea typeface="PMingLiU" panose="02020500000000000000" pitchFamily="18" charset="-120"/>
              </a:rPr>
              <a:t>叶琳珊</a:t>
            </a:r>
            <a:r>
              <a:rPr kumimoji="1" lang="en-US" altLang="zh-CN" b="1">
                <a:latin typeface="PMingLiU" panose="02020500000000000000" pitchFamily="18" charset="-120"/>
                <a:ea typeface="PMingLiU" panose="02020500000000000000" pitchFamily="18" charset="-120"/>
              </a:rPr>
              <a:t>    </a:t>
            </a:r>
            <a:r>
              <a:rPr kumimoji="1" lang="zh-CN" altLang="en-US" b="1">
                <a:latin typeface="PMingLiU" panose="02020500000000000000" pitchFamily="18" charset="-120"/>
                <a:ea typeface="PMingLiU" panose="02020500000000000000" pitchFamily="18" charset="-120"/>
              </a:rPr>
              <a:t>余绵峯    陈劲豪</a:t>
            </a:r>
            <a:endParaRPr kumimoji="1" lang="en-US" altLang="zh-HK" b="1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106429" y="970740"/>
            <a:ext cx="4086722" cy="5313759"/>
            <a:chOff x="4106429" y="970740"/>
            <a:chExt cx="4086722" cy="531375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6429" y="970740"/>
              <a:ext cx="4086722" cy="1345423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5268499"/>
              <a:ext cx="3086100" cy="1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598423" y="311699"/>
            <a:ext cx="1340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r>
              <a:rPr kumimoji="1" lang="en-US" altLang="zh-HK" sz="3600" b="1">
                <a:latin typeface="黑体" panose="02010609060101010101" pitchFamily="49" charset="-122"/>
              </a:rPr>
              <a:t>:</a:t>
            </a:r>
            <a:endParaRPr kumimoji="1" lang="en-US" altLang="zh-HK" sz="3600" b="1">
              <a:latin typeface="黑体" panose="02010609060101010101" pitchFamily="49" charset="-122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98423" y="1331788"/>
            <a:ext cx="880241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>
                <a:latin typeface="PMingLiU" panose="02020500000000000000" pitchFamily="18" charset="-120"/>
                <a:ea typeface="PMingLiU" panose="02020500000000000000" pitchFamily="18" charset="-120"/>
              </a:rPr>
              <a:t>一、数据来源</a:t>
            </a:r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kumimoji="1" lang="zh-CN" altLang="en-US" sz="2400">
                <a:latin typeface="PMingLiU" panose="02020500000000000000" pitchFamily="18" charset="-120"/>
                <a:ea typeface="PMingLiU" panose="02020500000000000000" pitchFamily="18" charset="-120"/>
              </a:rPr>
              <a:t>二、数据收集清洗与特征构建</a:t>
            </a:r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kumimoji="1" lang="zh-CN" altLang="en-US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kumimoji="1" lang="zh-CN" altLang="en-US" sz="2400">
                <a:latin typeface="PMingLiU" panose="02020500000000000000" pitchFamily="18" charset="-120"/>
                <a:ea typeface="PMingLiU" panose="02020500000000000000" pitchFamily="18" charset="-120"/>
              </a:rPr>
              <a:t>三、子主题一：现实生活的质量，如何潜入我们的梦境？</a:t>
            </a:r>
            <a:endParaRPr kumimoji="1" lang="zh-CN" altLang="en-US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kumimoji="1" lang="zh-CN" altLang="en-US" sz="2400">
                <a:latin typeface="PMingLiU" panose="02020500000000000000" pitchFamily="18" charset="-120"/>
                <a:ea typeface="PMingLiU" panose="02020500000000000000" pitchFamily="18" charset="-120"/>
              </a:rPr>
              <a:t>四、子主题二：</a:t>
            </a:r>
            <a:r>
              <a:rPr kumimoji="1" lang="en-US" altLang="zh-CN" sz="2400">
                <a:latin typeface="PMingLiU" panose="02020500000000000000" pitchFamily="18" charset="-120"/>
                <a:ea typeface="PMingLiU" panose="02020500000000000000" pitchFamily="18" charset="-120"/>
              </a:rPr>
              <a:t>Zipf‘s Law </a:t>
            </a:r>
            <a:r>
              <a:rPr kumimoji="1" lang="zh-CN" altLang="en-US" sz="2400">
                <a:latin typeface="PMingLiU" panose="02020500000000000000" pitchFamily="18" charset="-120"/>
                <a:ea typeface="PMingLiU" panose="02020500000000000000" pitchFamily="18" charset="-120"/>
              </a:rPr>
              <a:t>幂律分布，潜意识的物理法则</a:t>
            </a:r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kumimoji="1" lang="zh-CN" altLang="en-US" sz="2400">
                <a:latin typeface="PMingLiU" panose="02020500000000000000" pitchFamily="18" charset="-120"/>
                <a:ea typeface="PMingLiU" panose="02020500000000000000" pitchFamily="18" charset="-120"/>
              </a:rPr>
              <a:t>五、子主题三：梦魇的形状：为什么糟糕的梦总是在原地打转？</a:t>
            </a:r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kumimoji="1" lang="zh-CN" altLang="en-US" sz="2400">
                <a:latin typeface="PMingLiU" panose="02020500000000000000" pitchFamily="18" charset="-120"/>
                <a:ea typeface="PMingLiU" panose="02020500000000000000" pitchFamily="18" charset="-120"/>
              </a:rPr>
              <a:t>六、小结</a:t>
            </a:r>
            <a:endParaRPr kumimoji="1" lang="en-US" altLang="zh-CN" sz="2400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kumimoji="1" lang="en-US" altLang="zh-HK" sz="240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HK" altLang="en-US" b="1"/>
              <a:t>梦的结构</a:t>
            </a:r>
            <a:endParaRPr kumimoji="1" lang="zh-HK" altLang="en-US" b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zh-HK" b="1"/>
          </a:p>
          <a:p>
            <a:endParaRPr kumimoji="1" lang="en-US" altLang="zh-HK" b="1"/>
          </a:p>
          <a:p>
            <a:r>
              <a:rPr kumimoji="1" lang="zh-CN" altLang="en-US" b="1">
                <a:latin typeface="PMingLiU" panose="02020500000000000000" pitchFamily="18" charset="-120"/>
                <a:ea typeface="PMingLiU" panose="02020500000000000000" pitchFamily="18" charset="-120"/>
              </a:rPr>
              <a:t>数据来源</a:t>
            </a:r>
            <a:endParaRPr kumimoji="1" lang="en-US" altLang="zh-HK" b="1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106429" y="970740"/>
            <a:ext cx="4086722" cy="5313759"/>
            <a:chOff x="4106429" y="970740"/>
            <a:chExt cx="4086722" cy="531375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6429" y="970740"/>
              <a:ext cx="4086722" cy="1345423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5268499"/>
              <a:ext cx="3086100" cy="1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598423" y="311699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梦境描述</a:t>
            </a:r>
            <a:r>
              <a:rPr kumimoji="1"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文本</a:t>
            </a:r>
            <a:endParaRPr kumimoji="1" lang="zh-CN" altLang="en-US" sz="3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98423" y="1331788"/>
            <a:ext cx="10430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一、</a:t>
            </a:r>
            <a:r>
              <a:rPr kumimoji="1" lang="en-US" altLang="zh-HK" sz="2400">
                <a:latin typeface="Times New Roman" panose="02020503050405090304" pitchFamily="18" charset="0"/>
                <a:cs typeface="Times New Roman" panose="02020503050405090304" pitchFamily="18" charset="0"/>
              </a:rPr>
              <a:t>The Sleep and Dream Database</a:t>
            </a:r>
            <a:r>
              <a:rPr kumimoji="1" lang="zh-CN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kumimoji="1" lang="en-US" altLang="zh-HK" sz="2400">
                <a:latin typeface="Times New Roman" panose="02020503050405090304" pitchFamily="18" charset="0"/>
                <a:cs typeface="Times New Roman" panose="02020503050405090304" pitchFamily="18" charset="0"/>
              </a:rPr>
              <a:t>SDDb</a:t>
            </a:r>
            <a:r>
              <a:rPr kumimoji="1" lang="zh-CN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r>
              <a:rPr kumimoji="1" lang="zh-CN" altLang="en-US" sz="2400">
                <a:latin typeface="黑体" panose="02010609060101010101" pitchFamily="49" charset="-122"/>
              </a:rPr>
              <a:t>数据库</a:t>
            </a:r>
            <a:endParaRPr lang="en-US" altLang="zh-HK" sz="900">
              <a:latin typeface="黑体" panose="02010609060101010101" pitchFamily="49" charset="-122"/>
            </a:endParaRPr>
          </a:p>
        </p:txBody>
      </p:sp>
      <p:sp>
        <p:nvSpPr>
          <p:cNvPr id="2" name="文字方塊 5"/>
          <p:cNvSpPr txBox="1"/>
          <p:nvPr/>
        </p:nvSpPr>
        <p:spPr>
          <a:xfrm>
            <a:off x="598423" y="3960092"/>
            <a:ext cx="10430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>
                <a:latin typeface="Times New Roman" panose="02020503050405090304" pitchFamily="18" charset="0"/>
                <a:cs typeface="Times New Roman" panose="02020503050405090304" pitchFamily="18" charset="0"/>
              </a:rPr>
              <a:t>二、</a:t>
            </a:r>
            <a:r>
              <a:rPr kumimoji="1" lang="en-US" altLang="zh-HK" sz="240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kumimoji="1" lang="en-US" altLang="zh-CN" sz="2400">
                <a:latin typeface="Times New Roman" panose="02020503050405090304" pitchFamily="18" charset="0"/>
                <a:cs typeface="Times New Roman" panose="02020503050405090304" pitchFamily="18" charset="0"/>
              </a:rPr>
              <a:t>reamBank</a:t>
            </a:r>
            <a:r>
              <a:rPr kumimoji="1" lang="zh-CN" altLang="en-US" sz="2400">
                <a:latin typeface="黑体" panose="02010609060101010101" pitchFamily="49" charset="-122"/>
                <a:cs typeface="Times New Roman" panose="02020503050405090304" pitchFamily="18" charset="0"/>
              </a:rPr>
              <a:t>网站</a:t>
            </a:r>
            <a:endParaRPr lang="en-US" altLang="zh-HK" sz="900">
              <a:latin typeface="黑体" panose="02010609060101010101" pitchFamily="49" charset="-122"/>
            </a:endParaRPr>
          </a:p>
          <a:p>
            <a:endParaRPr kumimoji="1" lang="en-US" altLang="zh-HK" sz="2400">
              <a:latin typeface="黑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725" y="2009674"/>
            <a:ext cx="5402684" cy="1789327"/>
          </a:xfrm>
          <a:prstGeom prst="rect">
            <a:avLst/>
          </a:prstGeom>
        </p:spPr>
      </p:pic>
      <p:sp>
        <p:nvSpPr>
          <p:cNvPr id="8" name="文字方塊 1"/>
          <p:cNvSpPr txBox="1"/>
          <p:nvPr/>
        </p:nvSpPr>
        <p:spPr>
          <a:xfrm>
            <a:off x="598423" y="1936626"/>
            <a:ext cx="485242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+mn-ea"/>
              </a:rPr>
              <a:t>该数据库收集了</a:t>
            </a:r>
            <a:r>
              <a:rPr kumimoji="1" lang="en-US" altLang="zh-CN" sz="2000">
                <a:latin typeface="+mn-ea"/>
              </a:rPr>
              <a:t>52754</a:t>
            </a:r>
            <a:r>
              <a:rPr kumimoji="1" lang="zh-CN" altLang="en-US" sz="2000">
                <a:latin typeface="+mn-ea"/>
              </a:rPr>
              <a:t>条梦境数据</a:t>
            </a:r>
            <a:endParaRPr kumimoji="1" lang="en-US" altLang="zh-CN" sz="2000">
              <a:latin typeface="+mn-ea"/>
            </a:endParaRPr>
          </a:p>
          <a:p>
            <a:endParaRPr kumimoji="1" lang="en-US" altLang="zh-CN" sz="2000">
              <a:latin typeface="+mn-ea"/>
            </a:endParaRPr>
          </a:p>
          <a:p>
            <a:r>
              <a:rPr kumimoji="1" lang="zh-CN" altLang="en-US" sz="2000">
                <a:latin typeface="+mn-ea"/>
              </a:rPr>
              <a:t>特点：</a:t>
            </a:r>
            <a:endParaRPr kumimoji="1" lang="en-US" altLang="zh-CN" sz="2000">
              <a:latin typeface="+mn-ea"/>
            </a:endParaRPr>
          </a:p>
          <a:p>
            <a:r>
              <a:rPr kumimoji="1" lang="en-US" altLang="zh-CN" sz="2000">
                <a:latin typeface="+mn-ea"/>
              </a:rPr>
              <a:t>	</a:t>
            </a:r>
            <a:r>
              <a:rPr kumimoji="1" lang="zh-CN" altLang="en-US" sz="2000">
                <a:latin typeface="+mn-ea"/>
              </a:rPr>
              <a:t>可直接下载</a:t>
            </a:r>
            <a:r>
              <a:rPr kumimoji="1" lang="en-US" altLang="zh-CN" sz="2000">
                <a:latin typeface="+mn-ea"/>
              </a:rPr>
              <a:t>csv</a:t>
            </a:r>
            <a:endParaRPr kumimoji="1" lang="en-US" altLang="zh-CN" sz="2000">
              <a:latin typeface="+mn-ea"/>
            </a:endParaRPr>
          </a:p>
          <a:p>
            <a:r>
              <a:rPr kumimoji="1" lang="en-US" altLang="zh-CN" sz="2000">
                <a:latin typeface="+mn-ea"/>
              </a:rPr>
              <a:t>	</a:t>
            </a:r>
            <a:r>
              <a:rPr kumimoji="1" lang="zh-CN" altLang="en-US" sz="2000">
                <a:latin typeface="+mn-ea"/>
              </a:rPr>
              <a:t>但是存在空缺值</a:t>
            </a:r>
            <a:endParaRPr kumimoji="1" lang="en-US" altLang="zh-CN" sz="200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725" y="4645023"/>
            <a:ext cx="5402684" cy="1238749"/>
          </a:xfrm>
          <a:prstGeom prst="rect">
            <a:avLst/>
          </a:prstGeom>
        </p:spPr>
      </p:pic>
      <p:sp>
        <p:nvSpPr>
          <p:cNvPr id="11" name="文字方塊 1"/>
          <p:cNvSpPr txBox="1"/>
          <p:nvPr/>
        </p:nvSpPr>
        <p:spPr>
          <a:xfrm>
            <a:off x="598423" y="4645023"/>
            <a:ext cx="48524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+mn-ea"/>
              </a:rPr>
              <a:t>该</a:t>
            </a:r>
            <a:r>
              <a:rPr kumimoji="1" lang="zh-CN" altLang="en-US" sz="2000">
                <a:latin typeface="+mn-ea"/>
              </a:rPr>
              <a:t>网站收集了</a:t>
            </a:r>
            <a:r>
              <a:rPr kumimoji="1" lang="en-US" altLang="zh-CN" sz="2000">
                <a:latin typeface="+mn-ea"/>
              </a:rPr>
              <a:t>44556</a:t>
            </a:r>
            <a:r>
              <a:rPr kumimoji="1" lang="zh-CN" altLang="en-US" sz="2000">
                <a:latin typeface="+mn-ea"/>
              </a:rPr>
              <a:t>条梦境数据</a:t>
            </a:r>
            <a:endParaRPr kumimoji="1" lang="en-US" altLang="zh-CN" sz="2000">
              <a:latin typeface="+mn-ea"/>
            </a:endParaRPr>
          </a:p>
          <a:p>
            <a:endParaRPr kumimoji="1" lang="en-US" altLang="zh-CN" sz="2000">
              <a:latin typeface="+mn-ea"/>
            </a:endParaRPr>
          </a:p>
          <a:p>
            <a:r>
              <a:rPr kumimoji="1" lang="zh-CN" altLang="en-US" sz="2000">
                <a:latin typeface="+mn-ea"/>
              </a:rPr>
              <a:t>特点：</a:t>
            </a:r>
            <a:endParaRPr kumimoji="1" lang="en-US" altLang="zh-CN" sz="2000">
              <a:latin typeface="+mn-ea"/>
            </a:endParaRPr>
          </a:p>
          <a:p>
            <a:r>
              <a:rPr kumimoji="1" lang="en-US" altLang="zh-CN" sz="2000">
                <a:latin typeface="+mn-ea"/>
              </a:rPr>
              <a:t>	</a:t>
            </a:r>
            <a:r>
              <a:rPr kumimoji="1" lang="zh-CN" altLang="en-US" sz="2000">
                <a:latin typeface="+mn-ea"/>
              </a:rPr>
              <a:t>无法直接下载数据，需要爬虫</a:t>
            </a:r>
            <a:r>
              <a:rPr kumimoji="1" lang="en-US" altLang="zh-CN" sz="2000">
                <a:latin typeface="+mn-ea"/>
              </a:rPr>
              <a:t>	</a:t>
            </a:r>
            <a:r>
              <a:rPr kumimoji="1" lang="zh-CN" altLang="en-US" sz="2000">
                <a:latin typeface="+mn-ea"/>
              </a:rPr>
              <a:t>但有部分梦境集</a:t>
            </a:r>
            <a:r>
              <a:rPr kumimoji="1" lang="en-US" altLang="zh-CN" sz="2000">
                <a:latin typeface="+mn-ea"/>
              </a:rPr>
              <a:t>html</a:t>
            </a:r>
            <a:r>
              <a:rPr kumimoji="1" lang="zh-CN" altLang="en-US" sz="2000">
                <a:latin typeface="+mn-ea"/>
              </a:rPr>
              <a:t>结构不同</a:t>
            </a:r>
            <a:endParaRPr kumimoji="1" lang="en-US" altLang="zh-CN" sz="2000">
              <a:latin typeface="+mn-ea"/>
            </a:endParaRPr>
          </a:p>
          <a:p>
            <a:r>
              <a:rPr kumimoji="1" lang="en-US" altLang="zh-CN" sz="2000">
                <a:latin typeface="+mn-ea"/>
              </a:rPr>
              <a:t>	</a:t>
            </a:r>
            <a:r>
              <a:rPr kumimoji="1" lang="zh-CN" altLang="en-US" sz="2000">
                <a:latin typeface="+mn-ea"/>
              </a:rPr>
              <a:t>需要单独爬虫代码</a:t>
            </a:r>
            <a:endParaRPr kumimoji="1" lang="en-US" altLang="zh-CN" sz="200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HK" altLang="en-US" b="1"/>
              <a:t>梦的结构</a:t>
            </a:r>
            <a:endParaRPr kumimoji="1" lang="zh-HK" altLang="en-US" b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zh-HK" b="1"/>
          </a:p>
          <a:p>
            <a:endParaRPr kumimoji="1" lang="en-US" altLang="zh-HK" b="1"/>
          </a:p>
          <a:p>
            <a:r>
              <a:rPr kumimoji="1" lang="zh-HK" altLang="en-US" b="1"/>
              <a:t>数据清洗与特征构建</a:t>
            </a:r>
            <a:endParaRPr kumimoji="1" lang="en-US" altLang="zh-HK" b="1"/>
          </a:p>
        </p:txBody>
      </p:sp>
      <p:grpSp>
        <p:nvGrpSpPr>
          <p:cNvPr id="8" name="群組 7"/>
          <p:cNvGrpSpPr/>
          <p:nvPr/>
        </p:nvGrpSpPr>
        <p:grpSpPr>
          <a:xfrm>
            <a:off x="4106429" y="970740"/>
            <a:ext cx="4086722" cy="5313759"/>
            <a:chOff x="4106429" y="970740"/>
            <a:chExt cx="4086722" cy="531375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6429" y="970740"/>
              <a:ext cx="4086722" cy="1345423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5268499"/>
              <a:ext cx="3086100" cy="1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" y="2167255"/>
            <a:ext cx="9646285" cy="4219575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598423" y="311699"/>
            <a:ext cx="100571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>
                <a:latin typeface="黑体" panose="02010609060101010101" pitchFamily="49" charset="-122"/>
              </a:rPr>
              <a:t>SDDB PROBLEM I: Dream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Text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存在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随机换行</a:t>
            </a:r>
            <a:endParaRPr kumimoji="1" lang="en-US" altLang="zh-HK" sz="3600" b="1">
              <a:latin typeface="黑体" panose="02010609060101010101" pitchFamily="49" charset="-122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98423" y="1331788"/>
            <a:ext cx="8344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>
                <a:latin typeface="黑体" panose="02010609060101010101" pitchFamily="49" charset="-122"/>
              </a:rPr>
              <a:t>解决方案</a:t>
            </a:r>
            <a:r>
              <a:rPr kumimoji="1" lang="en-US" altLang="zh-CN" sz="2400">
                <a:latin typeface="黑体" panose="02010609060101010101" pitchFamily="49" charset="-122"/>
              </a:rPr>
              <a:t>: </a:t>
            </a:r>
            <a:r>
              <a:rPr kumimoji="1" lang="zh-CN" altLang="en-US" sz="2400">
                <a:latin typeface="黑体" panose="02010609060101010101" pitchFamily="49" charset="-122"/>
              </a:rPr>
              <a:t>使用正则表达式提取完整梦境文本</a:t>
            </a:r>
            <a:r>
              <a:rPr kumimoji="1" lang="en-US" altLang="zh-CN" sz="2400">
                <a:latin typeface="黑体" panose="02010609060101010101" pitchFamily="49" charset="-122"/>
              </a:rPr>
              <a:t>，</a:t>
            </a:r>
            <a:r>
              <a:rPr kumimoji="1" lang="zh-CN" altLang="en-US" sz="2400">
                <a:latin typeface="黑体" panose="02010609060101010101" pitchFamily="49" charset="-122"/>
              </a:rPr>
              <a:t>并且清除</a:t>
            </a:r>
            <a:r>
              <a:rPr kumimoji="1" lang="zh-CN" altLang="en-US" sz="2400">
                <a:latin typeface="黑体" panose="02010609060101010101" pitchFamily="49" charset="-122"/>
              </a:rPr>
              <a:t>换行</a:t>
            </a:r>
            <a:endParaRPr kumimoji="1" lang="zh-CN" altLang="en-US" sz="2400">
              <a:latin typeface="黑体" panose="02010609060101010101" pitchFamily="49" charset="-122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0" y="6588397"/>
            <a:ext cx="15233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HK" altLang="zh-HK" sz="1200" b="0" i="0">
                <a:solidFill>
                  <a:srgbClr val="000000"/>
                </a:solidFill>
                <a:effectLst/>
                <a:latin typeface="Helvetica" pitchFamily="2" charset="0"/>
              </a:rPr>
              <a:t>Bulkeley, K. (2023). New Approaches in the Empirical Study of Dreams. Poligrafi, 28(109/110), 195-220. </a:t>
            </a:r>
            <a:r>
              <a:rPr lang="zh-HK" altLang="zh-HK" sz="1200" b="0" i="0" u="none" strike="noStrike">
                <a:solidFill>
                  <a:srgbClr val="2F6FA7"/>
                </a:solidFill>
                <a:effectLst/>
                <a:latin typeface="Helvetica" pitchFamily="2" charset="0"/>
                <a:hlinkClick r:id="rId2"/>
              </a:rPr>
              <a:t>https://doi.org/10.35469/poligrafi.2023.412</a:t>
            </a:r>
            <a:endParaRPr lang="zh-HK" altLang="zh-HK" sz="1200" b="0" i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9269988" y="3695348"/>
            <a:ext cx="2230599" cy="1958540"/>
            <a:chOff x="819436" y="4805547"/>
            <a:chExt cx="1703805" cy="1595254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1"/>
            <a:srcRect b="6371"/>
            <a:stretch>
              <a:fillRect/>
            </a:stretch>
          </p:blipFill>
          <p:spPr>
            <a:xfrm>
              <a:off x="819436" y="4805547"/>
              <a:ext cx="1703805" cy="1595254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1262495" y="6221682"/>
              <a:ext cx="182130" cy="1791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HK" altLang="en-US">
                <a:latin typeface="黑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56120" y="6221682"/>
              <a:ext cx="182130" cy="1791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HK" altLang="en-US">
                <a:latin typeface="黑体" panose="02010609060101010101" pitchFamily="49" charset="-122"/>
              </a:endParaRPr>
            </a:p>
          </p:txBody>
        </p:sp>
      </p:grpSp>
      <p:sp>
        <p:nvSpPr>
          <p:cNvPr id="10" name="文字方塊 9"/>
          <p:cNvSpPr txBox="1"/>
          <p:nvPr/>
        </p:nvSpPr>
        <p:spPr>
          <a:xfrm>
            <a:off x="-49324" y="6642431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HK" altLang="zh-HK" sz="1200">
                <a:solidFill>
                  <a:srgbClr val="000000"/>
                </a:solidFill>
                <a:latin typeface="Helvetica" pitchFamily="2" charset="0"/>
              </a:rPr>
              <a:t>https://arxiv.org/abs/2412.19437</a:t>
            </a:r>
            <a:endParaRPr lang="zh-HK" altLang="zh-HK" sz="120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98423" y="311699"/>
            <a:ext cx="6470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>
                <a:latin typeface="黑体" panose="02010609060101010101" pitchFamily="49" charset="-122"/>
              </a:rPr>
              <a:t>SDDB PROBLEM II: </a:t>
            </a:r>
            <a:r>
              <a:rPr kumimoji="1" lang="zh-HK" altLang="en-US" sz="3600" b="1">
                <a:latin typeface="DengXian" panose="02010600030101010101" pitchFamily="2" charset="-122"/>
                <a:ea typeface="DengXian" panose="02010600030101010101" pitchFamily="2" charset="-122"/>
              </a:rPr>
              <a:t>被试的婉拒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8025" y="1663065"/>
            <a:ext cx="76549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在</a:t>
            </a:r>
            <a:r>
              <a:rPr lang="en-US" altLang="zh-CN" sz="2400"/>
              <a:t>SDDB</a:t>
            </a:r>
            <a:r>
              <a:rPr lang="zh-CN" altLang="en-US" sz="2400"/>
              <a:t>数据集中</a:t>
            </a:r>
            <a:r>
              <a:rPr lang="en-US" altLang="zh-CN" sz="2400"/>
              <a:t>，</a:t>
            </a:r>
            <a:r>
              <a:rPr lang="zh-CN" altLang="en-US" sz="2400"/>
              <a:t>我们发现部分被试会婉拒回答，但是这部分样本仍然被记录在数据集中。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即这些样本会以"我不做梦"、"我不记得"、"我不想说"等形式存在</a:t>
            </a:r>
            <a:r>
              <a:rPr lang="en-US" altLang="zh-CN" sz="2400"/>
              <a:t>。</a:t>
            </a:r>
            <a:r>
              <a:rPr lang="zh-CN" altLang="en-US" sz="2400"/>
              <a:t>这些回答污染了数据集，需要过滤。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解决方案</a:t>
            </a:r>
            <a:r>
              <a:rPr lang="en-US" altLang="zh-CN" sz="2400"/>
              <a:t>:</a:t>
            </a:r>
            <a:endParaRPr lang="zh-CN" altLang="en-US" sz="2400"/>
          </a:p>
          <a:p>
            <a:r>
              <a:rPr lang="zh-CN" altLang="en-US" sz="2400"/>
              <a:t>我们通过调用大模型来识别无效样本。我们的</a:t>
            </a:r>
            <a:r>
              <a:rPr lang="en-US" altLang="zh-CN" sz="2400"/>
              <a:t>Prompt</a:t>
            </a:r>
            <a:r>
              <a:rPr lang="zh-CN" altLang="en-US" sz="2400"/>
              <a:t>的核心逻辑是：让模型判断梦境文本是否包含"拒绝回答"、"宣称不做梦"、"回答与梦境无关"三类情况。如果判断为无效，输出标签"</a:t>
            </a:r>
            <a:r>
              <a:rPr lang="en-US" altLang="zh-CN" sz="2400"/>
              <a:t>invalid"。</a:t>
            </a:r>
            <a:endParaRPr lang="en-US" altLang="zh-CN" sz="2400"/>
          </a:p>
          <a:p>
            <a:r>
              <a:rPr lang="zh-CN" altLang="en-US" sz="2400"/>
              <a:t>最后清除</a:t>
            </a:r>
            <a:r>
              <a:rPr lang="en-US" altLang="zh-CN" sz="2400"/>
              <a:t>invalid</a:t>
            </a:r>
            <a:r>
              <a:rPr lang="zh-CN" altLang="en-US" sz="2400"/>
              <a:t>的梦境文本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414" y="1238110"/>
            <a:ext cx="11137943" cy="3273772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59" y="4721434"/>
            <a:ext cx="6359477" cy="1419960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-8382" y="6447586"/>
            <a:ext cx="1251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zh-HK" sz="1200">
                <a:solidFill>
                  <a:srgbClr val="000000"/>
                </a:solidFill>
                <a:latin typeface="Helvetica" pitchFamily="2" charset="0"/>
              </a:rPr>
              <a:t>Hutto, C.J. &amp; Gilbert, E.E. (2014). VADER: A Parsimonious Rule-based Model for Sentiment Analysis of Social Media Text. Eighth International Conference on Weblogs and Social Media (ICWSM-14). Ann Arbor, MI, June 2014.</a:t>
            </a:r>
            <a:endParaRPr lang="zh-HK" altLang="en-US" sz="120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98423" y="311699"/>
            <a:ext cx="7529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>
                <a:latin typeface="黑体" panose="02010609060101010101" pitchFamily="49" charset="-122"/>
              </a:rPr>
              <a:t>SDDB PROBLEM III: </a:t>
            </a:r>
            <a:r>
              <a:rPr kumimoji="1" lang="zh-HK" altLang="en-US" sz="3600" b="1">
                <a:latin typeface="DengXian" panose="02010600030101010101" pitchFamily="2" charset="-122"/>
                <a:ea typeface="DengXian" panose="02010600030101010101" pitchFamily="2" charset="-122"/>
              </a:rPr>
              <a:t>稀少的数据特征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809763" y="5077471"/>
            <a:ext cx="40318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kumimoji="1" lang="zh-CN" altLang="en-US" sz="40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4000">
                <a:latin typeface="黑体" panose="02010609060101010101" pitchFamily="49" charset="-122"/>
                <a:ea typeface="黑体" panose="02010609060101010101" pitchFamily="49" charset="-122"/>
              </a:rPr>
              <a:t>VADER</a:t>
            </a:r>
            <a:r>
              <a:rPr kumimoji="1" lang="zh-CN" altLang="en-US" sz="40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400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endParaRPr kumimoji="1" lang="en-US" altLang="zh-HK" sz="400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77884" y="1116063"/>
            <a:ext cx="10714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HK" altLang="en-US" sz="2800">
                <a:latin typeface="黑体" panose="02010609060101010101" pitchFamily="49" charset="-122"/>
              </a:rPr>
              <a:t>对于</a:t>
            </a:r>
            <a:r>
              <a:rPr kumimoji="1" lang="en-US" altLang="zh-HK" sz="2800">
                <a:latin typeface="黑体" panose="02010609060101010101" pitchFamily="49" charset="-122"/>
              </a:rPr>
              <a:t>DB</a:t>
            </a:r>
            <a:r>
              <a:rPr kumimoji="1" lang="zh-HK" altLang="en-US" sz="2800">
                <a:latin typeface="黑体" panose="02010609060101010101" pitchFamily="49" charset="-122"/>
              </a:rPr>
              <a:t>的几乎所有梦境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HK" altLang="en-US" sz="2800">
                <a:latin typeface="黑体" panose="02010609060101010101" pitchFamily="49" charset="-122"/>
              </a:rPr>
              <a:t>直接取</a:t>
            </a:r>
            <a:r>
              <a:rPr kumimoji="1" lang="en-US" altLang="zh-HK" sz="2800">
                <a:latin typeface="黑体" panose="02010609060101010101" pitchFamily="49" charset="-122"/>
              </a:rPr>
              <a:t>&lt;/label&gt;&lt;</a:t>
            </a:r>
            <a:r>
              <a:rPr kumimoji="1" lang="en-US" altLang="zh-HK" sz="2800" err="1">
                <a:latin typeface="黑体" panose="02010609060101010101" pitchFamily="49" charset="-122"/>
              </a:rPr>
              <a:t>br</a:t>
            </a:r>
            <a:r>
              <a:rPr kumimoji="1" lang="en-US" altLang="zh-HK" sz="2800">
                <a:latin typeface="黑体" panose="02010609060101010101" pitchFamily="49" charset="-122"/>
              </a:rPr>
              <a:t>/&gt;&lt;&gt;</a:t>
            </a:r>
            <a:r>
              <a:rPr kumimoji="1" lang="zh-HK" altLang="en-US" sz="2800">
                <a:latin typeface="黑体" panose="02010609060101010101" pitchFamily="49" charset="-122"/>
              </a:rPr>
              <a:t>之后的内容即可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kumimoji="1" lang="en-US" altLang="zh-HK" sz="2800">
              <a:latin typeface="黑体" panose="02010609060101010101" pitchFamily="49" charset="-122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1748790"/>
            <a:ext cx="11673840" cy="165290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77" y="5057737"/>
            <a:ext cx="11635807" cy="165325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236359" y="5775957"/>
            <a:ext cx="2218909" cy="23573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>
              <a:solidFill>
                <a:schemeClr val="accent4">
                  <a:lumMod val="60000"/>
                  <a:lumOff val="40000"/>
                </a:schemeClr>
              </a:solidFill>
              <a:latin typeface="黑体" panose="02010609060101010101" pitchFamily="49" charset="-122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963848" y="3853568"/>
            <a:ext cx="84064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HK" sz="3200">
                <a:latin typeface="黑体" panose="02010609060101010101" pitchFamily="49" charset="-122"/>
              </a:rPr>
              <a:t>Kenneth</a:t>
            </a:r>
            <a:r>
              <a:rPr kumimoji="1" lang="zh-HK" altLang="en-US" sz="3200">
                <a:latin typeface="黑体" panose="02010609060101010101" pitchFamily="49" charset="-122"/>
              </a:rPr>
              <a:t>是唯一一个会写标题</a:t>
            </a:r>
            <a:r>
              <a:rPr kumimoji="1" lang="en-US" altLang="zh-HK" sz="3200">
                <a:latin typeface="黑体" panose="02010609060101010101" pitchFamily="49" charset="-122"/>
              </a:rPr>
              <a:t>&lt;</a:t>
            </a:r>
            <a:r>
              <a:rPr kumimoji="1" lang="en-US" altLang="zh-HK" sz="3200" err="1">
                <a:latin typeface="黑体" panose="02010609060101010101" pitchFamily="49" charset="-122"/>
              </a:rPr>
              <a:t>i</a:t>
            </a:r>
            <a:r>
              <a:rPr kumimoji="1" lang="en-US" altLang="zh-HK" sz="3200">
                <a:latin typeface="黑体" panose="02010609060101010101" pitchFamily="49" charset="-122"/>
              </a:rPr>
              <a:t>&gt;&lt;/</a:t>
            </a:r>
            <a:r>
              <a:rPr kumimoji="1" lang="en-US" altLang="zh-HK" sz="3200" err="1">
                <a:latin typeface="黑体" panose="02010609060101010101" pitchFamily="49" charset="-122"/>
              </a:rPr>
              <a:t>i</a:t>
            </a:r>
            <a:r>
              <a:rPr kumimoji="1" lang="en-US" altLang="zh-HK" sz="3200">
                <a:latin typeface="黑体" panose="02010609060101010101" pitchFamily="49" charset="-122"/>
              </a:rPr>
              <a:t>&gt;</a:t>
            </a:r>
            <a:r>
              <a:rPr kumimoji="1" lang="zh-HK" altLang="en-US" sz="3200">
                <a:latin typeface="黑体" panose="02010609060101010101" pitchFamily="49" charset="-122"/>
              </a:rPr>
              <a:t>的数据集</a:t>
            </a:r>
            <a:endParaRPr kumimoji="1" lang="en-US" altLang="zh-HK" sz="3200">
              <a:latin typeface="黑体" panose="02010609060101010101" pitchFamily="49" charset="-122"/>
            </a:endParaRPr>
          </a:p>
          <a:p>
            <a:pPr algn="ctr"/>
            <a:r>
              <a:rPr kumimoji="1" lang="zh-HK" altLang="en-US" sz="3200">
                <a:latin typeface="黑体" panose="02010609060101010101" pitchFamily="49" charset="-122"/>
              </a:rPr>
              <a:t>因此需要特殊的爬虫代码</a:t>
            </a:r>
            <a:endParaRPr kumimoji="1" lang="en-US" altLang="zh-HK" sz="3200">
              <a:latin typeface="黑体" panose="02010609060101010101" pitchFamily="49" charset="-122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98423" y="311699"/>
            <a:ext cx="9895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 err="1">
                <a:latin typeface="黑体" panose="02010609060101010101" pitchFamily="49" charset="-122"/>
              </a:rPr>
              <a:t>DreamBank</a:t>
            </a:r>
            <a:r>
              <a:rPr kumimoji="1" lang="en-US" altLang="zh-HK" sz="3600" b="1">
                <a:latin typeface="黑体" panose="02010609060101010101" pitchFamily="49" charset="-122"/>
              </a:rPr>
              <a:t> PROBLEM I: </a:t>
            </a:r>
            <a:r>
              <a:rPr kumimoji="1" lang="zh-HK" altLang="en-US" sz="3600" b="1">
                <a:latin typeface="DengXian" panose="02010600030101010101" pitchFamily="2" charset="-122"/>
                <a:ea typeface="DengXian" panose="02010600030101010101" pitchFamily="2" charset="-122"/>
              </a:rPr>
              <a:t>个别梦境集的结构差异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rcRect b="27604"/>
          <a:stretch>
            <a:fillRect/>
          </a:stretch>
        </p:blipFill>
        <p:spPr>
          <a:xfrm>
            <a:off x="549134" y="1321862"/>
            <a:ext cx="8497589" cy="3551745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9681945" y="1943572"/>
            <a:ext cx="22372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HK" altLang="en-US" sz="2400">
                <a:latin typeface="黑体" panose="02010609060101010101" pitchFamily="49" charset="-122"/>
              </a:rPr>
              <a:t>德语梦境</a:t>
            </a:r>
            <a:endParaRPr kumimoji="1" lang="en-US" altLang="zh-HK" sz="2400">
              <a:latin typeface="黑体" panose="02010609060101010101" pitchFamily="49" charset="-122"/>
            </a:endParaRPr>
          </a:p>
          <a:p>
            <a:pPr algn="ctr"/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r>
              <a:rPr kumimoji="1" lang="en-US" altLang="zh-HK" sz="2400" err="1">
                <a:latin typeface="黑体" panose="02010609060101010101" pitchFamily="49" charset="-122"/>
              </a:rPr>
              <a:t>vonuslar.de</a:t>
            </a:r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endParaRPr kumimoji="1" lang="en-US" altLang="zh-HK" sz="2400">
              <a:latin typeface="黑体" panose="02010609060101010101" pitchFamily="49" charset="-122"/>
            </a:endParaRPr>
          </a:p>
          <a:p>
            <a:pPr algn="ctr"/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r>
              <a:rPr kumimoji="1" lang="en-US" altLang="zh-HK" sz="2400" err="1">
                <a:latin typeface="黑体" panose="02010609060101010101" pitchFamily="49" charset="-122"/>
              </a:rPr>
              <a:t>german-f.de</a:t>
            </a:r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endParaRPr kumimoji="1" lang="en-US" altLang="zh-HK" sz="2400">
              <a:latin typeface="黑体" panose="02010609060101010101" pitchFamily="49" charset="-122"/>
            </a:endParaRPr>
          </a:p>
          <a:p>
            <a:pPr algn="ctr"/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r>
              <a:rPr kumimoji="1" lang="en-US" altLang="zh-HK" sz="2400" err="1">
                <a:latin typeface="黑体" panose="02010609060101010101" pitchFamily="49" charset="-122"/>
              </a:rPr>
              <a:t>german-m.de</a:t>
            </a:r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endParaRPr kumimoji="1" lang="en-US" altLang="zh-HK" sz="2400">
              <a:latin typeface="黑体" panose="02010609060101010101" pitchFamily="49" charset="-122"/>
            </a:endParaRPr>
          </a:p>
          <a:p>
            <a:pPr algn="ctr"/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r>
              <a:rPr kumimoji="1" lang="en-US" altLang="zh-HK" sz="2400" err="1">
                <a:latin typeface="黑体" panose="02010609060101010101" pitchFamily="49" charset="-122"/>
              </a:rPr>
              <a:t>zurich-f.de</a:t>
            </a:r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endParaRPr kumimoji="1" lang="en-US" altLang="zh-HK" sz="2400">
              <a:latin typeface="黑体" panose="02010609060101010101" pitchFamily="49" charset="-122"/>
            </a:endParaRPr>
          </a:p>
          <a:p>
            <a:pPr algn="ctr"/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r>
              <a:rPr kumimoji="1" lang="en-US" altLang="zh-HK" sz="2400" err="1">
                <a:latin typeface="黑体" panose="02010609060101010101" pitchFamily="49" charset="-122"/>
              </a:rPr>
              <a:t>zurich-m.de</a:t>
            </a:r>
            <a:r>
              <a:rPr kumimoji="1" lang="en-US" altLang="zh-HK" sz="2400">
                <a:latin typeface="黑体" panose="02010609060101010101" pitchFamily="49" charset="-122"/>
              </a:rPr>
              <a:t>"</a:t>
            </a:r>
            <a:endParaRPr kumimoji="1" lang="zh-HK" altLang="en-US">
              <a:latin typeface="黑体" panose="02010609060101010101" pitchFamily="49" charset="-122"/>
            </a:endParaRPr>
          </a:p>
        </p:txBody>
      </p:sp>
      <p:sp>
        <p:nvSpPr>
          <p:cNvPr id="19" name="右彎箭號 18"/>
          <p:cNvSpPr/>
          <p:nvPr/>
        </p:nvSpPr>
        <p:spPr>
          <a:xfrm rot="10800000" flipH="1">
            <a:off x="2806262" y="5048220"/>
            <a:ext cx="4191375" cy="1059248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HK" altLang="en-US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124802" y="5577844"/>
            <a:ext cx="3381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HK" altLang="en-US" sz="3200">
                <a:latin typeface="黑体" panose="02010609060101010101" pitchFamily="49" charset="-122"/>
              </a:rPr>
              <a:t>用</a:t>
            </a:r>
            <a:r>
              <a:rPr kumimoji="1" lang="en-US" altLang="zh-HK" sz="3200">
                <a:latin typeface="黑体" panose="02010609060101010101" pitchFamily="49" charset="-122"/>
              </a:rPr>
              <a:t>LLM</a:t>
            </a:r>
            <a:r>
              <a:rPr kumimoji="1" lang="zh-HK" altLang="en-US" sz="3200">
                <a:latin typeface="黑体" panose="02010609060101010101" pitchFamily="49" charset="-122"/>
              </a:rPr>
              <a:t>翻译为英文</a:t>
            </a:r>
            <a:endParaRPr kumimoji="1" lang="zh-HK" altLang="en-US" sz="3200">
              <a:latin typeface="黑体" panose="02010609060101010101" pitchFamily="49" charset="-122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2"/>
          <a:srcRect t="17770" b="41379"/>
          <a:stretch>
            <a:fillRect/>
          </a:stretch>
        </p:blipFill>
        <p:spPr>
          <a:xfrm>
            <a:off x="4623953" y="5125550"/>
            <a:ext cx="1200868" cy="566037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-49324" y="6642431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HK" altLang="zh-HK" sz="1200">
                <a:solidFill>
                  <a:srgbClr val="000000"/>
                </a:solidFill>
                <a:latin typeface="Helvetica" pitchFamily="2" charset="0"/>
              </a:rPr>
              <a:t>https://arxiv.org/abs/2412.19437</a:t>
            </a:r>
            <a:endParaRPr lang="zh-HK" altLang="zh-HK" sz="120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49134" y="318188"/>
            <a:ext cx="10998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 err="1">
                <a:latin typeface="黑体" panose="02010609060101010101" pitchFamily="49" charset="-122"/>
              </a:rPr>
              <a:t>DreamBank</a:t>
            </a:r>
            <a:r>
              <a:rPr kumimoji="1" lang="en-US" altLang="zh-HK" sz="3600" b="1">
                <a:latin typeface="黑体" panose="02010609060101010101" pitchFamily="49" charset="-122"/>
              </a:rPr>
              <a:t> PROBLEM II: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HK" sz="3600" b="1" err="1">
                <a:latin typeface="黑体" panose="02010609060101010101" pitchFamily="49" charset="-122"/>
              </a:rPr>
              <a:t>Träume</a:t>
            </a:r>
            <a:r>
              <a:rPr kumimoji="1" lang="en-US" altLang="zh-HK" sz="3600" b="1">
                <a:latin typeface="黑体" panose="02010609060101010101" pitchFamily="49" charset="-122"/>
              </a:rPr>
              <a:t> auf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HK" sz="3600" b="1">
                <a:latin typeface="黑体" panose="02010609060101010101" pitchFamily="49" charset="-122"/>
              </a:rPr>
              <a:t>Deutsch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？？？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HK" altLang="en-US" b="1"/>
              <a:t>梦的结构</a:t>
            </a:r>
            <a:endParaRPr kumimoji="1" lang="zh-HK" altLang="en-US" b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zh-HK"/>
          </a:p>
          <a:p>
            <a:r>
              <a:rPr kumimoji="1" lang="zh-CN" altLang="en-US" b="1">
                <a:ea typeface="黑体" panose="02010609060101010101" pitchFamily="49" charset="-122"/>
              </a:rPr>
              <a:t>子主题一</a:t>
            </a:r>
            <a:endParaRPr kumimoji="1" lang="en-US" altLang="zh-HK" b="1"/>
          </a:p>
          <a:p>
            <a:r>
              <a:rPr kumimoji="1" lang="zh-CN" altLang="en-US" b="1">
                <a:ea typeface="黑体" panose="02010609060101010101" pitchFamily="49" charset="-122"/>
              </a:rPr>
              <a:t>现实生活的质量，如何潜入我们的梦境？</a:t>
            </a:r>
            <a:endParaRPr kumimoji="1" lang="en-US" altLang="zh-HK" b="1"/>
          </a:p>
        </p:txBody>
      </p:sp>
      <p:grpSp>
        <p:nvGrpSpPr>
          <p:cNvPr id="4" name="群組 3"/>
          <p:cNvGrpSpPr/>
          <p:nvPr/>
        </p:nvGrpSpPr>
        <p:grpSpPr>
          <a:xfrm>
            <a:off x="4052639" y="1122363"/>
            <a:ext cx="4086722" cy="5313759"/>
            <a:chOff x="4106429" y="970740"/>
            <a:chExt cx="4086722" cy="531375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6429" y="970740"/>
              <a:ext cx="4086722" cy="1345423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5268499"/>
              <a:ext cx="3086100" cy="1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98" y="404459"/>
            <a:ext cx="11056809" cy="2181478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567595" y="3041904"/>
            <a:ext cx="1105680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2800" i="1">
                <a:solidFill>
                  <a:srgbClr val="141413"/>
                </a:solidFill>
                <a:effectLst/>
                <a:latin typeface="Times"/>
                <a:ea typeface="黑体" panose="02010609060101010101" pitchFamily="49" charset="-122"/>
              </a:rPr>
              <a:t>“</a:t>
            </a:r>
            <a:r>
              <a:rPr lang="en-US" altLang="zh-HK" sz="2800" i="1">
                <a:solidFill>
                  <a:srgbClr val="141413"/>
                </a:solidFill>
                <a:effectLst/>
                <a:latin typeface="Times"/>
              </a:rPr>
              <a:t>The mean value</a:t>
            </a:r>
            <a:endParaRPr lang="en-US" altLang="zh-HK" sz="2800" i="1">
              <a:solidFill>
                <a:srgbClr val="141413"/>
              </a:solidFill>
              <a:effectLst/>
              <a:latin typeface="Times"/>
            </a:endParaRPr>
          </a:p>
          <a:p>
            <a:pPr algn="ctr"/>
            <a:r>
              <a:rPr lang="en-US" altLang="zh-HK" sz="2800" i="1">
                <a:solidFill>
                  <a:srgbClr val="141413"/>
                </a:solidFill>
                <a:effectLst/>
                <a:latin typeface="Times"/>
              </a:rPr>
              <a:t>of all subjects’ dreams pointed slightly in the direction of positive emotions. </a:t>
            </a:r>
            <a:r>
              <a:rPr lang="zh-CN" altLang="en-US" sz="2800" i="1">
                <a:solidFill>
                  <a:srgbClr val="141413"/>
                </a:solidFill>
                <a:effectLst/>
                <a:latin typeface="Times"/>
                <a:ea typeface="黑体" panose="02010609060101010101" pitchFamily="49" charset="-122"/>
              </a:rPr>
              <a:t>”</a:t>
            </a:r>
            <a:br>
              <a:rPr lang="en-US" altLang="zh-CN" sz="2800" i="1">
                <a:solidFill>
                  <a:srgbClr val="141413"/>
                </a:solidFill>
                <a:effectLst/>
                <a:latin typeface="Times"/>
                <a:ea typeface="黑体" panose="02010609060101010101" pitchFamily="49" charset="-122"/>
              </a:rPr>
            </a:br>
            <a:br>
              <a:rPr lang="en-US" altLang="zh-CN" sz="2800" i="1">
                <a:solidFill>
                  <a:srgbClr val="141413"/>
                </a:solidFill>
                <a:effectLst/>
                <a:latin typeface="Times"/>
                <a:ea typeface="黑体" panose="02010609060101010101" pitchFamily="49" charset="-122"/>
              </a:rPr>
            </a:br>
            <a:r>
              <a:rPr lang="zh-CN" altLang="en-US" sz="2800" i="1">
                <a:solidFill>
                  <a:srgbClr val="141413"/>
                </a:solidFill>
                <a:effectLst/>
                <a:latin typeface="Times"/>
                <a:ea typeface="黑体" panose="02010609060101010101" pitchFamily="49" charset="-122"/>
              </a:rPr>
              <a:t>“</a:t>
            </a:r>
            <a:r>
              <a:rPr lang="en-US" altLang="zh-HK" sz="2800" i="1">
                <a:solidFill>
                  <a:srgbClr val="141413"/>
                </a:solidFill>
                <a:latin typeface="Times"/>
              </a:rPr>
              <a:t>Surprisingly, dream moods were estimated as intense as explicitly mentioned emotions: whereas two-thirds of the emotions were negative, three out of four moods were positively toned.</a:t>
            </a:r>
            <a:r>
              <a:rPr lang="zh-CN" altLang="en-US" sz="2800" i="1">
                <a:solidFill>
                  <a:srgbClr val="141413"/>
                </a:solidFill>
                <a:latin typeface="Times"/>
                <a:ea typeface="黑体" panose="02010609060101010101" pitchFamily="49" charset="-122"/>
              </a:rPr>
              <a:t>”</a:t>
            </a:r>
            <a:endParaRPr lang="en-US" altLang="zh-HK" sz="2800" i="1">
              <a:solidFill>
                <a:srgbClr val="141413"/>
              </a:solidFill>
              <a:latin typeface="Times"/>
            </a:endParaRPr>
          </a:p>
          <a:p>
            <a:pPr algn="ctr">
              <a:buNone/>
            </a:pPr>
            <a:endParaRPr lang="en-US" altLang="zh-HK" sz="2800" i="1">
              <a:solidFill>
                <a:srgbClr val="141413"/>
              </a:solidFill>
              <a:effectLst/>
              <a:latin typeface="Time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-3463" y="6606414"/>
            <a:ext cx="6099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sz="1200">
                <a:latin typeface="黑体" panose="02010609060101010101" pitchFamily="49" charset="-122"/>
              </a:rPr>
              <a:t>https://en.wikipedia.org/wiki/Pollyanna_principle</a:t>
            </a:r>
            <a:endParaRPr lang="zh-HK" altLang="en-US" sz="120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/>
          <p:cNvSpPr txBox="1"/>
          <p:nvPr/>
        </p:nvSpPr>
        <p:spPr>
          <a:xfrm>
            <a:off x="8600799" y="6027003"/>
            <a:ext cx="1548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HK" sz="2400">
                <a:latin typeface="黑体" panose="02010609060101010101" pitchFamily="49" charset="-122"/>
              </a:rPr>
              <a:t>DB</a:t>
            </a:r>
            <a:r>
              <a:rPr kumimoji="1" lang="zh-CN" altLang="en-US" sz="2400">
                <a:latin typeface="黑体" panose="02010609060101010101" pitchFamily="49" charset="-122"/>
              </a:rPr>
              <a:t>数据</a:t>
            </a:r>
            <a:r>
              <a:rPr kumimoji="1" lang="zh-CN" altLang="en-US" sz="2400">
                <a:latin typeface="黑体" panose="02010609060101010101" pitchFamily="49" charset="-122"/>
              </a:rPr>
              <a:t>集</a:t>
            </a:r>
            <a:endParaRPr kumimoji="1" lang="zh-CN" altLang="en-US" sz="2400">
              <a:latin typeface="黑体" panose="02010609060101010101" pitchFamily="49" charset="-122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094740"/>
            <a:ext cx="4664075" cy="576326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718290" y="3132581"/>
            <a:ext cx="5313148" cy="475695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549134" y="318188"/>
            <a:ext cx="10134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>
                <a:latin typeface="黑体" panose="02010609060101010101" pitchFamily="49" charset="-122"/>
              </a:rPr>
              <a:t>Exploration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HK" sz="3600" b="1">
                <a:latin typeface="黑体" panose="02010609060101010101" pitchFamily="49" charset="-122"/>
              </a:rPr>
              <a:t>I: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不同梦境中积极和负面内容分布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404" y="896112"/>
            <a:ext cx="4824494" cy="596188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rcRect b="25167"/>
          <a:stretch>
            <a:fillRect/>
          </a:stretch>
        </p:blipFill>
        <p:spPr>
          <a:xfrm rot="16200000">
            <a:off x="6790598" y="3614586"/>
            <a:ext cx="4413669" cy="130494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067875" y="3631388"/>
            <a:ext cx="4422596" cy="9280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342432" y="3635160"/>
            <a:ext cx="4422597" cy="116129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8290350" y="6027003"/>
            <a:ext cx="19589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HK" sz="2400">
                <a:latin typeface="黑体" panose="02010609060101010101" pitchFamily="49" charset="-122"/>
              </a:rPr>
              <a:t>SDDb</a:t>
            </a:r>
            <a:r>
              <a:rPr kumimoji="1" lang="zh-CN" altLang="en-US" sz="2400">
                <a:latin typeface="黑体" panose="02010609060101010101" pitchFamily="49" charset="-122"/>
              </a:rPr>
              <a:t>数据集</a:t>
            </a:r>
            <a:endParaRPr kumimoji="1" lang="zh-CN" altLang="en-US" sz="2400">
              <a:latin typeface="黑体" panose="02010609060101010101" pitchFamily="49" charset="-122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49134" y="318188"/>
            <a:ext cx="10134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>
                <a:latin typeface="黑体" panose="02010609060101010101" pitchFamily="49" charset="-122"/>
              </a:rPr>
              <a:t>Exploration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HK" sz="3600" b="1">
                <a:latin typeface="黑体" panose="02010609060101010101" pitchFamily="49" charset="-122"/>
              </a:rPr>
              <a:t>I: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不同梦境中积极和负面内容分布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7852229" y="5135561"/>
            <a:ext cx="3966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HK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性别</a:t>
            </a:r>
            <a:r>
              <a:rPr kumimoji="1" lang="en-US" altLang="zh-CN" sz="2400">
                <a:latin typeface="DengXian" panose="02010600030101010101" pitchFamily="2" charset="-122"/>
                <a:ea typeface="DengXian" panose="02010600030101010101" pitchFamily="2" charset="-122"/>
              </a:rPr>
              <a:t>&amp;</a:t>
            </a:r>
            <a:r>
              <a:rPr kumimoji="1" lang="zh-HK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年龄对梦境的影响</a:t>
            </a:r>
            <a:r>
              <a:rPr kumimoji="1" lang="zh-CN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？</a:t>
            </a:r>
            <a:endParaRPr kumimoji="1" lang="en-US" altLang="zh-CN" sz="240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endParaRPr kumimoji="1" lang="en-US" altLang="zh-HK" sz="240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HK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不太明显</a:t>
            </a:r>
            <a:endParaRPr kumimoji="1" lang="en-US" altLang="zh-HK" sz="240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1"/>
          <a:srcRect l="67309" t="5550" b="70606"/>
          <a:stretch>
            <a:fillRect/>
          </a:stretch>
        </p:blipFill>
        <p:spPr>
          <a:xfrm>
            <a:off x="4027765" y="1631555"/>
            <a:ext cx="3017134" cy="2011239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549134" y="318188"/>
            <a:ext cx="944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HK" sz="3600" b="1">
                <a:latin typeface="黑体" panose="02010609060101010101" pitchFamily="49" charset="-122"/>
              </a:rPr>
              <a:t>Exploration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kumimoji="1" lang="en-US" altLang="zh-HK" sz="3600" b="1">
                <a:latin typeface="黑体" panose="02010609060101010101" pitchFamily="49" charset="-122"/>
              </a:rPr>
              <a:t>I: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不同因素对梦境内容的影响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852229" y="1849710"/>
            <a:ext cx="39660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梦境集来源</a:t>
            </a:r>
            <a:b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DB-Blind F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DB-Blind M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DB-College 90s F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DB-College 90s M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Norms F   Norms M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Swiss Child F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Swiss Child M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32" y="1631555"/>
            <a:ext cx="3017133" cy="196113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31" y="3837943"/>
            <a:ext cx="3017133" cy="208591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765" y="3943869"/>
            <a:ext cx="3017132" cy="19799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7135495" y="5071745"/>
            <a:ext cx="44062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HK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环境对梦境的影响</a:t>
            </a:r>
            <a:r>
              <a:rPr kumimoji="1" lang="zh-CN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？</a:t>
            </a:r>
            <a:endParaRPr kumimoji="1" lang="en-US" altLang="zh-CN" sz="240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HK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疫情可能真的有影响</a:t>
            </a:r>
            <a:r>
              <a:rPr kumimoji="1" lang="zh-CN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！</a:t>
            </a:r>
            <a:endParaRPr kumimoji="1" lang="zh-CN" altLang="en-US" sz="240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r>
              <a:rPr kumimoji="1" lang="zh-CN" altLang="en-US" sz="2400">
                <a:ea typeface="黑体" panose="02010609060101010101" pitchFamily="49" charset="-122"/>
                <a:sym typeface="+mn-ea"/>
              </a:rPr>
              <a:t>印证了疫情给社会带来</a:t>
            </a:r>
            <a:r>
              <a:rPr kumimoji="1" lang="zh-CN" altLang="en-US" sz="2400">
                <a:ea typeface="黑体" panose="02010609060101010101" pitchFamily="49" charset="-122"/>
                <a:sym typeface="+mn-ea"/>
              </a:rPr>
              <a:t>的心理焦虑。</a:t>
            </a:r>
            <a:endParaRPr kumimoji="1" lang="zh-HK" altLang="en-US" sz="2400"/>
          </a:p>
          <a:p>
            <a:pPr algn="ctr"/>
            <a:endParaRPr kumimoji="1" lang="zh-CN" altLang="en-US" sz="240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ctr"/>
            <a:endParaRPr lang="en-US" altLang="zh-HK" sz="240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53614" y="1159099"/>
            <a:ext cx="689915" cy="3141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>
              <a:latin typeface="黑体" panose="02010609060101010101" pitchFamily="49" charset="-122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2829" y="404084"/>
            <a:ext cx="10586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sz="3600" b="1">
                <a:latin typeface="黑体" panose="02010609060101010101" pitchFamily="49" charset="-122"/>
              </a:rPr>
              <a:t>Exploration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kumimoji="1" lang="en-US" altLang="zh-HK" sz="3600" b="1">
                <a:latin typeface="黑体" panose="02010609060101010101" pitchFamily="49" charset="-122"/>
              </a:rPr>
              <a:t>I: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不同因素对梦境内容的影响</a:t>
            </a:r>
            <a:endParaRPr kumimoji="1" lang="en-US" altLang="zh-HK" sz="3600" b="1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413493" y="1849710"/>
            <a:ext cx="39660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梦境集来源</a:t>
            </a:r>
            <a:b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SDDB-2010 Baseline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SDDB-2012 Baseline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SDDB-2013 Baseline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SDDB-2020 Apr(Pandemic)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SDDB-2020 May(Pandemic)</a:t>
            </a:r>
            <a:endParaRPr lang="en-US" altLang="zh-CN" sz="240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779" y="1359108"/>
            <a:ext cx="3344752" cy="268475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28" y="1275117"/>
            <a:ext cx="3182758" cy="2768741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523" y="4156516"/>
            <a:ext cx="3137924" cy="2660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HK" altLang="en-US" b="1"/>
              <a:t>梦的结构</a:t>
            </a:r>
            <a:endParaRPr kumimoji="1" lang="zh-HK" altLang="en-US" b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zh-HK"/>
          </a:p>
          <a:p>
            <a:r>
              <a:rPr kumimoji="1" lang="zh-CN" altLang="en-US" b="1">
                <a:ea typeface="黑体" panose="02010609060101010101" pitchFamily="49" charset="-122"/>
              </a:rPr>
              <a:t>子主题二</a:t>
            </a:r>
            <a:endParaRPr kumimoji="1" lang="en-US" altLang="zh-CN" b="1">
              <a:ea typeface="黑体" panose="02010609060101010101" pitchFamily="49" charset="-122"/>
            </a:endParaRPr>
          </a:p>
          <a:p>
            <a:r>
              <a:rPr kumimoji="1" lang="en-US" altLang="zh-CN" b="1">
                <a:ea typeface="黑体" panose="02010609060101010101" pitchFamily="49" charset="-122"/>
              </a:rPr>
              <a:t>Zipf's Law </a:t>
            </a:r>
            <a:r>
              <a:rPr kumimoji="1" lang="zh-CN" altLang="en-US" b="1">
                <a:ea typeface="黑体" panose="02010609060101010101" pitchFamily="49" charset="-122"/>
              </a:rPr>
              <a:t>幂律分布：潜意识的物理法则</a:t>
            </a:r>
            <a:endParaRPr kumimoji="1" lang="en-US" altLang="zh-HK" b="1"/>
          </a:p>
        </p:txBody>
      </p:sp>
      <p:grpSp>
        <p:nvGrpSpPr>
          <p:cNvPr id="4" name="群組 3"/>
          <p:cNvGrpSpPr/>
          <p:nvPr/>
        </p:nvGrpSpPr>
        <p:grpSpPr>
          <a:xfrm>
            <a:off x="4052639" y="1122363"/>
            <a:ext cx="4086722" cy="5313759"/>
            <a:chOff x="4106429" y="970740"/>
            <a:chExt cx="4086722" cy="531375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6429" y="970740"/>
              <a:ext cx="4086722" cy="1345423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5268499"/>
              <a:ext cx="3086100" cy="1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10729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引入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个体梦境中人物实体出现频率存在什么规律？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猜测：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字方塊 1"/>
          <p:cNvSpPr txBox="1"/>
          <p:nvPr/>
        </p:nvSpPr>
        <p:spPr>
          <a:xfrm>
            <a:off x="549134" y="1871697"/>
            <a:ext cx="11127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梦境中不同人物实体出现的频率，可能服从某种确定的数学规律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字方塊 1"/>
          <p:cNvSpPr txBox="1"/>
          <p:nvPr/>
        </p:nvSpPr>
        <p:spPr>
          <a:xfrm>
            <a:off x="549134" y="2459885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变量定义：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字方塊 1"/>
          <p:cNvSpPr txBox="1"/>
          <p:nvPr/>
        </p:nvSpPr>
        <p:spPr>
          <a:xfrm>
            <a:off x="549134" y="3028890"/>
            <a:ext cx="11127754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、人物实体的出现</a:t>
            </a:r>
            <a:r>
              <a:rPr kumimoji="1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频数</a:t>
            </a:r>
            <a:r>
              <a:rPr kumimoji="1"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、出现频率的</a:t>
            </a:r>
            <a:r>
              <a:rPr kumimoji="1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排名</a:t>
            </a:r>
            <a:r>
              <a:rPr kumimoji="1"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endParaRPr kumimoji="1"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将计算得的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从大到小降序排列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为排好的数据依次排序（如第一名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Rank = 1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，以此类推）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41751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数据处理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数据来源</a:t>
            </a:r>
            <a:endParaRPr kumimoji="1"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数据来源：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字方塊 1"/>
          <p:cNvSpPr txBox="1"/>
          <p:nvPr/>
        </p:nvSpPr>
        <p:spPr>
          <a:xfrm>
            <a:off x="549134" y="1871697"/>
            <a:ext cx="11127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err="1">
                <a:latin typeface="黑体" panose="02010609060101010101" pitchFamily="49" charset="-122"/>
                <a:ea typeface="黑体" panose="02010609060101010101" pitchFamily="49" charset="-122"/>
              </a:rPr>
              <a:t>DreamBank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爬虫所得共计四万余条梦境数据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366" y="2451182"/>
            <a:ext cx="11041016" cy="38772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4684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数据处理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进一步处理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大模型提取实体：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字方塊 1"/>
          <p:cNvSpPr txBox="1"/>
          <p:nvPr/>
        </p:nvSpPr>
        <p:spPr>
          <a:xfrm>
            <a:off x="549134" y="1896685"/>
            <a:ext cx="1112775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我们使用大模型分析梦境文本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提取出实体出现的频率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具体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细节会在子主题三讲解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" y="2625725"/>
            <a:ext cx="11479530" cy="39141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4706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数据处理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探索性分析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梦境人物实体出现频率的规律：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300" y="3041210"/>
            <a:ext cx="5642535" cy="352658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835" y="3041210"/>
            <a:ext cx="5642535" cy="3526584"/>
          </a:xfrm>
          <a:prstGeom prst="rect">
            <a:avLst/>
          </a:prstGeom>
        </p:spPr>
      </p:pic>
      <p:sp>
        <p:nvSpPr>
          <p:cNvPr id="6" name="文字方塊 1"/>
          <p:cNvSpPr txBox="1"/>
          <p:nvPr/>
        </p:nvSpPr>
        <p:spPr>
          <a:xfrm>
            <a:off x="549134" y="1871697"/>
            <a:ext cx="111277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初步处理：：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对数据集进行可视化处理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作为两个变量直接出图：明显非线性关系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示例：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4706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数据处理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探索性分析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梦境人物实体出现频率的规律：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字方塊 1"/>
          <p:cNvSpPr txBox="1"/>
          <p:nvPr/>
        </p:nvSpPr>
        <p:spPr>
          <a:xfrm>
            <a:off x="549135" y="1871697"/>
            <a:ext cx="30959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文献依据：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梦境中实体出现的频率符合幂律分布：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近似处理：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为幂函数关系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其各自的对数值应该存在较强的线性关系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1373" y="1764357"/>
            <a:ext cx="7865982" cy="48360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/>
            </p14:nvContentPartPr>
            <p14:xfrm>
              <a:off x="9537336" y="4782384"/>
              <a:ext cx="186444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3"/>
            </p:blipFill>
            <p:spPr>
              <a:xfrm>
                <a:off x="9537336" y="4782384"/>
                <a:ext cx="186444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0" name="墨迹 9"/>
              <p14:cNvContentPartPr/>
              <p14:nvPr/>
            </p14:nvContentPartPr>
            <p14:xfrm>
              <a:off x="4041576" y="4928184"/>
              <a:ext cx="4188240" cy="36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5"/>
            </p:blipFill>
            <p:spPr>
              <a:xfrm>
                <a:off x="4041576" y="4928184"/>
                <a:ext cx="418824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4243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数据处理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理论复现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幂律分布的验证：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45" y="3057916"/>
            <a:ext cx="5849655" cy="36560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011" y="3057916"/>
            <a:ext cx="5849656" cy="3656035"/>
          </a:xfrm>
          <a:prstGeom prst="rect">
            <a:avLst/>
          </a:prstGeom>
        </p:spPr>
      </p:pic>
      <p:sp>
        <p:nvSpPr>
          <p:cNvPr id="6" name="文字方塊 1"/>
          <p:cNvSpPr txBox="1"/>
          <p:nvPr/>
        </p:nvSpPr>
        <p:spPr>
          <a:xfrm>
            <a:off x="549134" y="1871697"/>
            <a:ext cx="1112775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依据文献结论：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对全体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61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组数据集进行可视化处理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Frequency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的对数值作为两个变量出图：线性关系较为明显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示例：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4243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数据处理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结果分析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线性相关程度：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字方塊 1"/>
          <p:cNvSpPr txBox="1"/>
          <p:nvPr/>
        </p:nvSpPr>
        <p:spPr>
          <a:xfrm>
            <a:off x="549134" y="1871697"/>
            <a:ext cx="11127754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回归分析：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对处理得到的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61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组梦境数据集进行线性回归分析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以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R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方是否大于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0.8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作为判断依据：</a:t>
            </a:r>
            <a:endParaRPr kumimoji="1" lang="zh-CN" alt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zh-CN" alt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对计算所得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61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组线性拟合的</a:t>
            </a:r>
            <a:r>
              <a:rPr kumimoji="1" lang="en-US" altLang="zh-CN" sz="2000" err="1">
                <a:latin typeface="黑体" panose="02010609060101010101" pitchFamily="49" charset="-122"/>
                <a:ea typeface="黑体" panose="02010609060101010101" pitchFamily="49" charset="-122"/>
              </a:rPr>
              <a:t>R^2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进行可视化处理：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大部分数据线性拟合关系较好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en-US" altLang="zh-CN" sz="2000" err="1">
                <a:latin typeface="黑体" panose="02010609060101010101" pitchFamily="49" charset="-122"/>
                <a:ea typeface="黑体" panose="02010609060101010101" pitchFamily="49" charset="-122"/>
              </a:rPr>
              <a:t>R^2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除样本较少的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college-m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组外，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大部分均大于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0.9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可认为幂律分布假设成立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/>
          <a:srcRect r="13559"/>
          <a:stretch>
            <a:fillRect/>
          </a:stretch>
        </p:blipFill>
        <p:spPr>
          <a:xfrm>
            <a:off x="6113011" y="972883"/>
            <a:ext cx="6078989" cy="52755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5170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kumimoji="1" lang="en-US" altLang="zh-HK" sz="3600" b="1">
                <a:latin typeface="+mn-ea"/>
              </a:rPr>
              <a:t>:</a:t>
            </a:r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 幂律分布验证成立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理论</a:t>
            </a:r>
            <a:r>
              <a:rPr kumimoji="1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灵感来源：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字方塊 1"/>
          <p:cNvSpPr txBox="1"/>
          <p:nvPr/>
        </p:nvSpPr>
        <p:spPr>
          <a:xfrm>
            <a:off x="549134" y="1871697"/>
            <a:ext cx="97096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Schweickert, R., Xi, Z., Viau-Quesnel, C., &amp; Zheng, X. (2020). Power law distribution of frequencies of characters in dreams explained by random walk on semantic network. International Journal of Dream Research.</a:t>
            </a:r>
            <a:endParaRPr kumimoji="1"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4" name="文字方塊 1"/>
          <p:cNvSpPr txBox="1"/>
          <p:nvPr/>
        </p:nvSpPr>
        <p:spPr>
          <a:xfrm>
            <a:off x="549134" y="2915540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我们工作的贡献：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字方塊 1"/>
          <p:cNvSpPr txBox="1"/>
          <p:nvPr/>
        </p:nvSpPr>
        <p:spPr>
          <a:xfrm>
            <a:off x="549134" y="3484545"/>
            <a:ext cx="9709682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原论文中也是使用</a:t>
            </a:r>
            <a:r>
              <a:rPr lang="en-US" altLang="zh-CN" sz="2000" err="1">
                <a:latin typeface="黑体" panose="02010609060101010101" pitchFamily="49" charset="-122"/>
                <a:ea typeface="黑体" panose="02010609060101010101" pitchFamily="49" charset="-122"/>
              </a:rPr>
              <a:t>DreamBank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数据库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但是原始论文的数据量较小，仅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个数据集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并且实体序列通过人工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 		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标注，工作量大且繁琐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我们小组：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挖掘</a:t>
            </a:r>
            <a:r>
              <a:rPr kumimoji="1" lang="en-US" altLang="zh-CN" sz="2000" err="1">
                <a:latin typeface="黑体" panose="02010609060101010101" pitchFamily="49" charset="-122"/>
                <a:ea typeface="黑体" panose="02010609060101010101" pitchFamily="49" charset="-122"/>
              </a:rPr>
              <a:t>DreamBank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全部数据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通过大模型处理了大部分挖掘到的数据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HK" altLang="en-US" b="1"/>
              <a:t>梦的结构</a:t>
            </a:r>
            <a:endParaRPr kumimoji="1" lang="zh-HK" altLang="en-US" b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zh-HK"/>
          </a:p>
          <a:p>
            <a:r>
              <a:rPr kumimoji="1" lang="zh-CN" altLang="en-US" b="1">
                <a:ea typeface="黑体" panose="02010609060101010101" pitchFamily="49" charset="-122"/>
              </a:rPr>
              <a:t>子主题三</a:t>
            </a:r>
            <a:endParaRPr kumimoji="1" lang="en-US" altLang="zh-CN" b="1">
              <a:ea typeface="黑体" panose="02010609060101010101" pitchFamily="49" charset="-122"/>
            </a:endParaRPr>
          </a:p>
          <a:p>
            <a:r>
              <a:rPr kumimoji="1" lang="zh-CN" altLang="en-US" b="1">
                <a:ea typeface="黑体" panose="02010609060101010101" pitchFamily="49" charset="-122"/>
              </a:rPr>
              <a:t>梦魇的形状：为什么糟糕的梦总是在原地打转？</a:t>
            </a:r>
            <a:endParaRPr kumimoji="1" lang="en-US" altLang="zh-HK" b="1"/>
          </a:p>
        </p:txBody>
      </p:sp>
      <p:grpSp>
        <p:nvGrpSpPr>
          <p:cNvPr id="4" name="群組 3"/>
          <p:cNvGrpSpPr/>
          <p:nvPr/>
        </p:nvGrpSpPr>
        <p:grpSpPr>
          <a:xfrm>
            <a:off x="4052639" y="1122363"/>
            <a:ext cx="4086722" cy="5313759"/>
            <a:chOff x="4106429" y="970740"/>
            <a:chExt cx="4086722" cy="531375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6429" y="970740"/>
              <a:ext cx="4086722" cy="1345423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5268499"/>
              <a:ext cx="3086100" cy="1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研究背景与问题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问题提出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你是否有过这样的体验：在噩梦中，同一个恐怖的场景反复出现，仿佛被困在一个无法逃离的循环中</a:t>
            </a:r>
            <a:r>
              <a:rPr>
                <a:latin typeface="黑体" panose="02010609060101010101" pitchFamily="49" charset="-122"/>
              </a:rPr>
              <a:t>？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研究假设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积极梦境呈现"线性叙事"拓扑结构</a:t>
            </a:r>
            <a:r>
              <a:rPr>
                <a:latin typeface="黑体" panose="02010609060101010101" pitchFamily="49" charset="-122"/>
              </a:rPr>
              <a:t>——</a:t>
            </a:r>
            <a:r>
              <a:rPr err="1">
                <a:latin typeface="黑体" panose="02010609060101010101" pitchFamily="49" charset="-122"/>
              </a:rPr>
              <a:t>情节顺畅推进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负面梦境呈现"循环结构</a:t>
            </a:r>
            <a:r>
              <a:rPr>
                <a:latin typeface="黑体" panose="02010609060101010101" pitchFamily="49" charset="-122"/>
              </a:rPr>
              <a:t>"——</a:t>
            </a:r>
            <a:r>
              <a:rPr err="1">
                <a:latin typeface="黑体" panose="02010609060101010101" pitchFamily="49" charset="-122"/>
              </a:rPr>
              <a:t>情节反复回到起点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理论依据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Rosen等人（2023）提出用有向图量化梦境结构，通过网络指标区分不同情感类型的梦境</a:t>
            </a:r>
            <a:r>
              <a:rPr>
                <a:latin typeface="黑体" panose="02010609060101010101" pitchFamily="49" charset="-122"/>
              </a:rPr>
              <a:t>。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核心指标</a:t>
            </a:r>
            <a:endParaRPr>
              <a:latin typeface="黑体" panose="02010609060101010101" pitchFamily="49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212080"/>
          <a:ext cx="73152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指标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含义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高值解读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聚集系数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局部循环程度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梦境在原地打转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基尼系数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实体统治性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某个恐怖实体主导整个梦境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反馈环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闭环路径数量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情节不断重复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>
                <a:latin typeface="黑体" panose="02010609060101010101" pitchFamily="49" charset="-122"/>
              </a:rPr>
              <a:t>LLM数据处理概述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数据来源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DreamBank数据集：</a:t>
            </a:r>
            <a:r>
              <a:rPr lang="zh-CN" err="1">
                <a:latin typeface="黑体" panose="02010609060101010101" pitchFamily="49" charset="-122"/>
              </a:rPr>
              <a:t>受限于</a:t>
            </a:r>
            <a:r>
              <a:rPr lang="en-US" altLang="zh-CN" err="1">
                <a:latin typeface="黑体" panose="02010609060101010101" pitchFamily="49" charset="-122"/>
              </a:rPr>
              <a:t>token</a:t>
            </a:r>
            <a:r>
              <a:rPr lang="zh-CN" altLang="en-US" err="1">
                <a:latin typeface="黑体" panose="02010609060101010101" pitchFamily="49" charset="-122"/>
              </a:rPr>
              <a:t>用量</a:t>
            </a:r>
            <a:r>
              <a:rPr lang="en-US" altLang="zh-CN" err="1">
                <a:latin typeface="黑体" panose="02010609060101010101" pitchFamily="49" charset="-122"/>
              </a:rPr>
              <a:t>，</a:t>
            </a:r>
            <a:r>
              <a:rPr lang="zh-CN" altLang="en-US" err="1">
                <a:latin typeface="黑体" panose="02010609060101010101" pitchFamily="49" charset="-122"/>
              </a:rPr>
              <a:t>我们只处理了</a:t>
            </a:r>
            <a:r>
              <a:rPr err="1">
                <a:latin typeface="黑体" panose="02010609060101010101" pitchFamily="49" charset="-122"/>
              </a:rPr>
              <a:t>27,405条梦境文本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每条梦境包含非结构化的长文本描述</a:t>
            </a:r>
            <a:r>
              <a:rPr lang="en-US">
                <a:latin typeface="黑体" panose="02010609060101010101" pitchFamily="49" charset="-122"/>
              </a:rPr>
              <a:t>。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处理目标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455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lang="zh-CN" altLang="en-US">
                <a:latin typeface="黑体" panose="02010609060101010101" pitchFamily="49" charset="-122"/>
              </a:rPr>
              <a:t>输入原始的梦境文本</a:t>
            </a:r>
            <a:r>
              <a:rPr lang="en-US" altLang="zh-CN">
                <a:latin typeface="黑体" panose="02010609060101010101" pitchFamily="49" charset="-122"/>
              </a:rPr>
              <a:t>，</a:t>
            </a:r>
            <a:r>
              <a:rPr lang="zh-CN" altLang="en-US">
                <a:latin typeface="黑体" panose="02010609060101010101" pitchFamily="49" charset="-122"/>
              </a:rPr>
              <a:t>输出梦境中的实体序列以及其他需要的指标</a:t>
            </a:r>
            <a:r>
              <a:rPr lang="en-US" altLang="zh-CN">
                <a:latin typeface="黑体" panose="02010609060101010101" pitchFamily="49" charset="-122"/>
              </a:rPr>
              <a:t>。</a:t>
            </a:r>
            <a:endParaRPr lang="en-US" altLang="zh-CN">
              <a:latin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技术方案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LLM模型：DeepSeek-V3（通过SiliconFlow</a:t>
            </a:r>
            <a:r>
              <a:rPr>
                <a:latin typeface="黑体" panose="02010609060101010101" pitchFamily="49" charset="-122"/>
              </a:rPr>
              <a:t> </a:t>
            </a:r>
            <a:r>
              <a:rPr err="1">
                <a:latin typeface="黑体" panose="02010609060101010101" pitchFamily="49" charset="-122"/>
              </a:rPr>
              <a:t>API调用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处理方式：异步批量调用，提高处理效率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输出格式：JSONL文件，便于流式读取</a:t>
            </a:r>
            <a:endParaRPr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处理结果示例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数据结构示例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 panose="02070409020205090404"/>
              </a:defRPr>
            </a:pPr>
            <a:r>
              <a:t>{</a:t>
            </a:r>
            <a:br/>
            <a:r>
              <a:t>  "dream_id": "izzy16_592",</a:t>
            </a:r>
            <a:br/>
            <a:r>
              <a:t>  "positive_or_not": true,</a:t>
            </a:r>
            <a:br/>
            <a:r>
              <a:t>  "entities_frequency": {"video shop": 1, "horror weekend": 1, "eugene": 1},</a:t>
            </a:r>
            <a:br/>
            <a:r>
              <a:t>  "entity_sequence": ["video shop", "someone", "horror weekend",</a:t>
            </a:r>
            <a:br/>
            <a:r>
              <a:t>                      "greeble 3", "someone", "michael johnson", "eugene"],</a:t>
            </a:r>
            <a:br/>
            <a:r>
              <a:t>  "metadata": {"total_unique_entities": 5, "sequence_total_length": 7}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LLM处理架构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异步调用架构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err="1">
                <a:latin typeface="黑体" panose="02010609060101010101" pitchFamily="49" charset="-122"/>
              </a:rPr>
              <a:t>异步并发控制（10并发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 ↓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 err="1">
                <a:latin typeface="黑体" panose="02010609060101010101" pitchFamily="49" charset="-122"/>
              </a:rPr>
              <a:t>每批处理5条梦境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 ↓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 err="1">
                <a:latin typeface="黑体" panose="02010609060101010101" pitchFamily="49" charset="-122"/>
              </a:rPr>
              <a:t>API调用</a:t>
            </a:r>
            <a:r>
              <a:rPr>
                <a:latin typeface="黑体" panose="02010609060101010101" pitchFamily="49" charset="-122"/>
              </a:rPr>
              <a:t> + </a:t>
            </a:r>
            <a:r>
              <a:rPr err="1">
                <a:latin typeface="黑体" panose="02010609060101010101" pitchFamily="49" charset="-122"/>
              </a:rPr>
              <a:t>重试机制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 ↓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 err="1">
                <a:latin typeface="黑体" panose="02010609060101010101" pitchFamily="49" charset="-122"/>
              </a:rPr>
              <a:t>结果流式写入JSONL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核心配置参数</a:t>
            </a:r>
            <a:endParaRPr>
              <a:latin typeface="黑体" panose="02010609060101010101" pitchFamily="49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554480"/>
          <a:ext cx="64008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参数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设置值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说明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并发数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10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同时进行的API请求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批量大小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5条</a:t>
                      </a:r>
                      <a:r>
                        <a:rPr>
                          <a:latin typeface="黑体" panose="02010609060101010101" pitchFamily="49" charset="-122"/>
                        </a:rPr>
                        <a:t>/批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每次调用处理的梦境数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超时时间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180秒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单次请求超时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重试次数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3次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失败后重试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提取内容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745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dream_summary：梦境内容摘要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positive_or_not：情感极性判断（正面</a:t>
            </a:r>
            <a:r>
              <a:rPr>
                <a:latin typeface="黑体" panose="02010609060101010101" pitchFamily="49" charset="-122"/>
              </a:rPr>
              <a:t>/</a:t>
            </a:r>
            <a:r>
              <a:rPr err="1">
                <a:latin typeface="黑体" panose="02010609060101010101" pitchFamily="49" charset="-122"/>
              </a:rPr>
              <a:t>负面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entities_frequency：各实体出现频次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entity_sequence：按时间顺序出现的实体序列</a:t>
            </a:r>
            <a:endParaRPr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有向图构建原理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构建方法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节点：梦境中出现的实体（地点、人物、物品等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边：相邻实体之间的连接关系（有方向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  <a:p>
            <a:pPr>
              <a:defRPr sz="180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边的定义</a:t>
            </a:r>
            <a:r>
              <a:rPr>
                <a:latin typeface="黑体" panose="02010609060101010101" pitchFamily="49" charset="-122"/>
              </a:rPr>
              <a:t>：(</a:t>
            </a:r>
            <a:r>
              <a:rPr err="1">
                <a:latin typeface="黑体" panose="02010609060101010101" pitchFamily="49" charset="-122"/>
              </a:rPr>
              <a:t>entity_i</a:t>
            </a:r>
            <a:r>
              <a:rPr>
                <a:latin typeface="黑体" panose="02010609060101010101" pitchFamily="49" charset="-122"/>
              </a:rPr>
              <a:t>, entity_{</a:t>
            </a:r>
            <a:r>
              <a:rPr err="1">
                <a:latin typeface="黑体" panose="02010609060101010101" pitchFamily="49" charset="-122"/>
              </a:rPr>
              <a:t>i+1</a:t>
            </a:r>
            <a:r>
              <a:rPr>
                <a:latin typeface="黑体" panose="02010609060101010101" pitchFamily="49" charset="-122"/>
              </a:rPr>
              <a:t>})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示例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序列</a:t>
            </a:r>
            <a:r>
              <a:rPr>
                <a:latin typeface="黑体" panose="02010609060101010101" pitchFamily="49" charset="-122"/>
              </a:rPr>
              <a:t>：["school", "someone", "movie", "cop", "</a:t>
            </a:r>
            <a:r>
              <a:rPr err="1">
                <a:latin typeface="黑体" panose="02010609060101010101" pitchFamily="49" charset="-122"/>
              </a:rPr>
              <a:t>alejandro</a:t>
            </a:r>
            <a:r>
              <a:rPr>
                <a:latin typeface="黑体" panose="02010609060101010101" pitchFamily="49" charset="-122"/>
              </a:rPr>
              <a:t>", "</a:t>
            </a:r>
            <a:r>
              <a:rPr err="1">
                <a:latin typeface="黑体" panose="02010609060101010101" pitchFamily="49" charset="-122"/>
              </a:rPr>
              <a:t>alejandro</a:t>
            </a:r>
            <a:r>
              <a:rPr>
                <a:latin typeface="黑体" panose="02010609060101010101" pitchFamily="49" charset="-122"/>
              </a:rPr>
              <a:t>"]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rPr>
                <a:latin typeface="黑体" panose="02010609060101010101" pitchFamily="49" charset="-122"/>
              </a:rPr>
              <a:t>school → someone → movie → cop → </a:t>
            </a:r>
            <a:r>
              <a:rPr err="1">
                <a:latin typeface="黑体" panose="02010609060101010101" pitchFamily="49" charset="-122"/>
              </a:rPr>
              <a:t>alejandro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alejandro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使用工具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7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NetworkX：Python网络分析库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支持图的构建、指标计算、可视化</a:t>
            </a:r>
            <a:endParaRPr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核心指标定义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>
                <a:latin typeface="黑体" panose="02010609060101010101" pitchFamily="49" charset="-122"/>
              </a:rPr>
              <a:t>1. </a:t>
            </a:r>
            <a:r>
              <a:rPr err="1">
                <a:latin typeface="黑体" panose="02010609060101010101" pitchFamily="49" charset="-122"/>
              </a:rPr>
              <a:t>聚集系数</a:t>
            </a:r>
            <a:r>
              <a:rPr>
                <a:latin typeface="黑体" panose="02010609060101010101" pitchFamily="49" charset="-122"/>
              </a:rPr>
              <a:t> (Clustering Coefficient)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定义：衡量图中节点局部形成闭环的程度</a:t>
            </a:r>
            <a:br>
              <a:rPr>
                <a:latin typeface="黑体" panose="02010609060101010101" pitchFamily="49" charset="-122"/>
              </a:rPr>
            </a:br>
            <a:r>
              <a:rPr err="1">
                <a:latin typeface="黑体" panose="02010609060101010101" pitchFamily="49" charset="-122"/>
              </a:rPr>
              <a:t>值域：0</a:t>
            </a:r>
            <a:r>
              <a:rPr>
                <a:latin typeface="黑体" panose="02010609060101010101" pitchFamily="49" charset="-122"/>
              </a:rPr>
              <a:t> ~ 1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486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b="1" err="1">
                <a:latin typeface="Arial" panose="020B0604020202090204" pitchFamily="34" charset="0"/>
              </a:rPr>
              <a:t>解读</a:t>
            </a:r>
            <a:r>
              <a:rPr>
                <a:latin typeface="黑体" panose="02010609060101010101" pitchFamily="49" charset="-122"/>
              </a:rPr>
              <a:t>：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值越高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图更容易形成闭环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梦境在原地打转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值越低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图更呈线性结构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情节顺畅推进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>
                <a:latin typeface="黑体" panose="02010609060101010101" pitchFamily="49" charset="-122"/>
              </a:rPr>
              <a:t>2. </a:t>
            </a:r>
            <a:r>
              <a:rPr err="1">
                <a:latin typeface="黑体" panose="02010609060101010101" pitchFamily="49" charset="-122"/>
              </a:rPr>
              <a:t>基尼系数</a:t>
            </a:r>
            <a:r>
              <a:rPr>
                <a:latin typeface="黑体" panose="02010609060101010101" pitchFamily="49" charset="-122"/>
              </a:rPr>
              <a:t> (Gini Coefficient)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定义：衡量节点度分布的集中程度</a:t>
            </a:r>
            <a:br>
              <a:rPr>
                <a:latin typeface="黑体" panose="02010609060101010101" pitchFamily="49" charset="-122"/>
              </a:rPr>
            </a:br>
            <a:r>
              <a:rPr err="1">
                <a:latin typeface="黑体" panose="02010609060101010101" pitchFamily="49" charset="-122"/>
              </a:rPr>
              <a:t>值域：0</a:t>
            </a:r>
            <a:r>
              <a:rPr>
                <a:latin typeface="黑体" panose="02010609060101010101" pitchFamily="49" charset="-122"/>
              </a:rPr>
              <a:t> ~ 1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4864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b="1" err="1">
                <a:latin typeface="Arial" panose="020B0604020202090204" pitchFamily="34" charset="0"/>
              </a:rPr>
              <a:t>解读</a:t>
            </a:r>
            <a:r>
              <a:rPr>
                <a:latin typeface="黑体" panose="02010609060101010101" pitchFamily="49" charset="-122"/>
              </a:rPr>
              <a:t>：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值越高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少数节点控制大部分连接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某个实体主导梦境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值越低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分布均匀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各实体贡献相似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532892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>
                <a:latin typeface="黑体" panose="02010609060101010101" pitchFamily="49" charset="-122"/>
              </a:rPr>
              <a:t>3. </a:t>
            </a:r>
            <a:r>
              <a:rPr err="1">
                <a:latin typeface="黑体" panose="02010609060101010101" pitchFamily="49" charset="-122"/>
              </a:rPr>
              <a:t>反馈环</a:t>
            </a:r>
            <a:r>
              <a:rPr>
                <a:latin typeface="黑体" panose="02010609060101010101" pitchFamily="49" charset="-122"/>
              </a:rPr>
              <a:t> (Feedback Loops)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71881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定义：图中形成闭环的路径数量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092190"/>
            <a:ext cx="5486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b="1" err="1">
                <a:latin typeface="Arial" panose="020B0604020202090204" pitchFamily="34" charset="0"/>
              </a:rPr>
              <a:t>解读</a:t>
            </a:r>
            <a:r>
              <a:rPr err="1">
                <a:latin typeface="黑体" panose="02010609060101010101" pitchFamily="49" charset="-122"/>
              </a:rPr>
              <a:t>：值越高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梦境越循环</a:t>
            </a:r>
            <a:r>
              <a:rPr>
                <a:latin typeface="黑体" panose="02010609060101010101" pitchFamily="49" charset="-122"/>
              </a:rPr>
              <a:t> → </a:t>
            </a:r>
            <a:r>
              <a:rPr err="1">
                <a:latin typeface="黑体" panose="02010609060101010101" pitchFamily="49" charset="-122"/>
              </a:rPr>
              <a:t>情节不断回到起点</a:t>
            </a:r>
            <a:endParaRPr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箱线图对比分析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rPr err="1">
                <a:latin typeface="黑体" panose="02010609060101010101" pitchFamily="49" charset="-122"/>
              </a:rPr>
              <a:t>对比正向梦境与负向梦境的网络指标差异（子图左侧均为噩梦，右侧均为积极梦境</a:t>
            </a:r>
            <a:r>
              <a:rPr>
                <a:latin typeface="黑体" panose="02010609060101010101" pitchFamily="49" charset="-122"/>
              </a:rPr>
              <a:t>）：</a:t>
            </a:r>
            <a:endParaRPr lang="en-US"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err="1">
                <a:latin typeface="黑体" panose="02010609060101010101" pitchFamily="49" charset="-122"/>
              </a:rPr>
              <a:t>图1：基尼系数对比</a:t>
            </a:r>
            <a:endParaRPr>
              <a:latin typeface="黑体" panose="02010609060101010101" pitchFamily="49" charset="-122"/>
            </a:endParaRPr>
          </a:p>
        </p:txBody>
      </p:sp>
      <p:pic>
        <p:nvPicPr>
          <p:cNvPr id="5" name="Picture 4" descr="gini_coeff_box_plo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36576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97680" y="137160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err="1">
                <a:latin typeface="黑体" panose="02010609060101010101" pitchFamily="49" charset="-122"/>
              </a:rPr>
              <a:t>图2：聚集系数对比</a:t>
            </a:r>
            <a:endParaRPr>
              <a:latin typeface="黑体" panose="02010609060101010101" pitchFamily="49" charset="-122"/>
            </a:endParaRPr>
          </a:p>
        </p:txBody>
      </p:sp>
      <p:pic>
        <p:nvPicPr>
          <p:cNvPr id="7" name="Picture 6" descr="cluster_coeff_box_pl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36576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7160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err="1">
                <a:latin typeface="黑体" panose="02010609060101010101" pitchFamily="49" charset="-122"/>
              </a:rPr>
              <a:t>图3：反馈环数量对比</a:t>
            </a:r>
            <a:endParaRPr>
              <a:latin typeface="黑体" panose="02010609060101010101" pitchFamily="49" charset="-122"/>
            </a:endParaRPr>
          </a:p>
        </p:txBody>
      </p:sp>
      <p:pic>
        <p:nvPicPr>
          <p:cNvPr id="9" name="Picture 8" descr="feedback_loops_box_pl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数值统计对比</a:t>
            </a:r>
            <a:endParaRPr>
              <a:latin typeface="黑体" panose="02010609060101010101" pitchFamily="49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16523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指标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正向梦境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负向梦境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差异分析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基尼系数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均值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0.1642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0.1766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负向梦境更高</a:t>
                      </a:r>
                      <a:r>
                        <a:rPr>
                          <a:latin typeface="黑体" panose="02010609060101010101" pitchFamily="49" charset="-122"/>
                        </a:rPr>
                        <a:t> (+7.5%)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中位数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0.1667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0.1714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负向梦境更高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标准差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0.0743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0.0727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分布相似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聚集系数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均值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0.0849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0.099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负向梦境更高</a:t>
                      </a:r>
                      <a:r>
                        <a:rPr>
                          <a:latin typeface="黑体" panose="02010609060101010101" pitchFamily="49" charset="-122"/>
                        </a:rPr>
                        <a:t> (+16%)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中位数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0.0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0.0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大多数梦境聚集系数为0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标准差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0.156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0.1543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分布相似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反馈环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均值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4.4288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8.3817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负向梦境明显更高</a:t>
                      </a:r>
                      <a:r>
                        <a:rPr>
                          <a:latin typeface="黑体" panose="02010609060101010101" pitchFamily="49" charset="-122"/>
                        </a:rPr>
                        <a:t> (+89%)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中位数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2.0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3.0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负向梦境更高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标准差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75.6527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latin typeface="黑体" panose="02010609060101010101" pitchFamily="49" charset="-122"/>
                        </a:rPr>
                        <a:t>192.7977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err="1">
                          <a:latin typeface="黑体" panose="02010609060101010101" pitchFamily="49" charset="-122"/>
                        </a:rPr>
                        <a:t>负向梦境波动更大</a:t>
                      </a:r>
                      <a:endParaRPr>
                        <a:latin typeface="黑体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关键发现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反馈环数量是区分正向</a:t>
            </a:r>
            <a:r>
              <a:rPr>
                <a:latin typeface="黑体" panose="02010609060101010101" pitchFamily="49" charset="-122"/>
              </a:rPr>
              <a:t>/</a:t>
            </a:r>
            <a:r>
              <a:rPr err="1">
                <a:latin typeface="黑体" panose="02010609060101010101" pitchFamily="49" charset="-122"/>
              </a:rPr>
              <a:t>负向梦境最显著的指标，负向梦境均值约为正向梦境的2倍</a:t>
            </a:r>
            <a:r>
              <a:rPr>
                <a:latin typeface="黑体" panose="02010609060101010101" pitchFamily="49" charset="-122"/>
              </a:rPr>
              <a:t>。</a:t>
            </a:r>
            <a:endParaRPr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研究发现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主要发现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1. </a:t>
            </a:r>
            <a:r>
              <a:rPr err="1">
                <a:latin typeface="黑体" panose="02010609060101010101" pitchFamily="49" charset="-122"/>
              </a:rPr>
              <a:t>反馈环效应显著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• </a:t>
            </a:r>
            <a:r>
              <a:rPr err="1">
                <a:latin typeface="黑体" panose="02010609060101010101" pitchFamily="49" charset="-122"/>
              </a:rPr>
              <a:t>负向梦境的反馈环数量明显更高（均值约2倍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• </a:t>
            </a:r>
            <a:r>
              <a:rPr err="1">
                <a:latin typeface="黑体" panose="02010609060101010101" pitchFamily="49" charset="-122"/>
              </a:rPr>
              <a:t>验证了"噩梦在原地打转"的直觉体验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2. </a:t>
            </a:r>
            <a:r>
              <a:rPr err="1">
                <a:latin typeface="黑体" panose="02010609060101010101" pitchFamily="49" charset="-122"/>
              </a:rPr>
              <a:t>基尼系数差异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• </a:t>
            </a:r>
            <a:r>
              <a:rPr err="1">
                <a:latin typeface="黑体" panose="02010609060101010101" pitchFamily="49" charset="-122"/>
              </a:rPr>
              <a:t>负向梦境的基尼系数略高（约7.5</a:t>
            </a:r>
            <a:r>
              <a:rPr>
                <a:latin typeface="黑体" panose="02010609060101010101" pitchFamily="49" charset="-122"/>
              </a:rPr>
              <a:t>%）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• </a:t>
            </a:r>
            <a:r>
              <a:rPr err="1">
                <a:latin typeface="黑体" panose="02010609060101010101" pitchFamily="49" charset="-122"/>
              </a:rPr>
              <a:t>表明负向梦境中存在更强的"实体统治性</a:t>
            </a:r>
            <a:r>
              <a:rPr>
                <a:latin typeface="黑体" panose="02010609060101010101" pitchFamily="49" charset="-122"/>
              </a:rPr>
              <a:t>"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3. </a:t>
            </a:r>
            <a:r>
              <a:rPr err="1">
                <a:latin typeface="黑体" panose="02010609060101010101" pitchFamily="49" charset="-122"/>
              </a:rPr>
              <a:t>聚集系数差异较小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• </a:t>
            </a:r>
            <a:r>
              <a:rPr err="1">
                <a:latin typeface="黑体" panose="02010609060101010101" pitchFamily="49" charset="-122"/>
              </a:rPr>
              <a:t>两组梦境的聚集系数均值差异约16</a:t>
            </a:r>
            <a:r>
              <a:rPr>
                <a:latin typeface="黑体" panose="02010609060101010101" pitchFamily="49" charset="-122"/>
              </a:rPr>
              <a:t>%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   • </a:t>
            </a:r>
            <a:r>
              <a:rPr err="1">
                <a:latin typeface="黑体" panose="02010609060101010101" pitchFamily="49" charset="-122"/>
              </a:rPr>
              <a:t>但大多数梦境聚集系数接近0（线性结构为主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假设验证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rPr err="1">
                <a:latin typeface="黑体" panose="02010609060101010101" pitchFamily="49" charset="-122"/>
              </a:rPr>
              <a:t>研究假设得到验证</a:t>
            </a:r>
            <a:r>
              <a:rPr>
                <a:latin typeface="黑体" panose="02010609060101010101" pitchFamily="49" charset="-122"/>
              </a:rPr>
              <a:t>：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负向梦境确实呈现更多循环结构（反馈环指标</a:t>
            </a:r>
            <a:r>
              <a:rPr>
                <a:latin typeface="黑体" panose="02010609060101010101" pitchFamily="49" charset="-122"/>
              </a:rPr>
              <a:t>）</a:t>
            </a:r>
            <a:br>
              <a:rPr>
                <a:latin typeface="黑体" panose="02010609060101010101" pitchFamily="49" charset="-122"/>
              </a:rPr>
            </a:br>
            <a:r>
              <a:rPr>
                <a:latin typeface="黑体" panose="02010609060101010101" pitchFamily="49" charset="-122"/>
              </a:rPr>
              <a:t>• </a:t>
            </a:r>
            <a:r>
              <a:rPr err="1">
                <a:latin typeface="黑体" panose="02010609060101010101" pitchFamily="49" charset="-122"/>
              </a:rPr>
              <a:t>存在实体统治性效应（基尼系数</a:t>
            </a:r>
            <a:r>
              <a:rPr>
                <a:latin typeface="黑体" panose="02010609060101010101" pitchFamily="49" charset="-122"/>
              </a:rPr>
              <a:t>）</a:t>
            </a:r>
            <a:endParaRPr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err="1">
                <a:latin typeface="黑体" panose="02010609060101010101" pitchFamily="49" charset="-122"/>
              </a:rPr>
              <a:t>结论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主要结论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/>
            </a:pPr>
            <a:r>
              <a:rPr>
                <a:latin typeface="黑体" panose="02010609060101010101" pitchFamily="49" charset="-122"/>
              </a:rPr>
              <a:t>噩梦并非简单的"</a:t>
            </a:r>
            <a:r>
              <a:rPr err="1">
                <a:latin typeface="黑体" panose="02010609060101010101" pitchFamily="49" charset="-122"/>
              </a:rPr>
              <a:t>可怕内容</a:t>
            </a:r>
            <a:r>
              <a:rPr>
                <a:latin typeface="黑体" panose="02010609060101010101" pitchFamily="49" charset="-122"/>
              </a:rPr>
              <a:t>"，</a:t>
            </a:r>
            <a:r>
              <a:rPr err="1">
                <a:latin typeface="黑体" panose="02010609060101010101" pitchFamily="49" charset="-122"/>
              </a:rPr>
              <a:t>而是具有独特的拓扑结构</a:t>
            </a:r>
            <a:r>
              <a:rPr>
                <a:latin typeface="黑体" panose="02010609060101010101" pitchFamily="49" charset="-122"/>
              </a:rPr>
              <a:t>——</a:t>
            </a:r>
            <a:r>
              <a:rPr err="1">
                <a:latin typeface="黑体" panose="02010609060101010101" pitchFamily="49" charset="-122"/>
              </a:rPr>
              <a:t>情节反复回到起点，形成无法逃离的循环</a:t>
            </a:r>
            <a:r>
              <a:rPr>
                <a:latin typeface="黑体" panose="02010609060101010101" pitchFamily="49" charset="-122"/>
              </a:rPr>
              <a:t>。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err="1">
                <a:latin typeface="黑体" panose="02010609060101010101" pitchFamily="49" charset="-122"/>
              </a:rPr>
              <a:t>研究贡献</a:t>
            </a:r>
            <a:endParaRPr>
              <a:latin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4552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1. </a:t>
            </a:r>
            <a:r>
              <a:rPr err="1">
                <a:latin typeface="黑体" panose="02010609060101010101" pitchFamily="49" charset="-122"/>
              </a:rPr>
              <a:t>方法论创新：将LLM实体提取与网络分析结合，量化梦境结构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2. </a:t>
            </a:r>
            <a:r>
              <a:rPr err="1">
                <a:latin typeface="黑体" panose="02010609060101010101" pitchFamily="49" charset="-122"/>
              </a:rPr>
              <a:t>实证验证：用27,405条梦境数据验证了噩梦的"循环结构"假设</a:t>
            </a:r>
            <a:endParaRPr>
              <a:latin typeface="黑体" panose="02010609060101010101" pitchFamily="49" charset="-122"/>
            </a:endParaRPr>
          </a:p>
          <a:p>
            <a:pPr>
              <a:defRPr sz="1600"/>
            </a:pPr>
            <a:r>
              <a:rPr>
                <a:latin typeface="黑体" panose="02010609060101010101" pitchFamily="49" charset="-122"/>
              </a:rPr>
              <a:t>3. </a:t>
            </a:r>
            <a:r>
              <a:rPr err="1">
                <a:latin typeface="黑体" panose="02010609060101010101" pitchFamily="49" charset="-122"/>
              </a:rPr>
              <a:t>指标体系：建立了聚集系数、基尼系数、反馈环的梦境分析指标</a:t>
            </a:r>
            <a:endParaRPr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HK" altLang="en-US" b="1"/>
              <a:t>梦的结构</a:t>
            </a:r>
            <a:endParaRPr kumimoji="1" lang="zh-HK" altLang="en-US" b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zh-HK" b="1"/>
          </a:p>
          <a:p>
            <a:endParaRPr kumimoji="1" lang="en-US" altLang="zh-HK" b="1"/>
          </a:p>
          <a:p>
            <a:r>
              <a:rPr kumimoji="1" lang="zh-CN" altLang="en-US" b="1">
                <a:latin typeface="PMingLiU" panose="02020500000000000000" pitchFamily="18" charset="-120"/>
                <a:ea typeface="PMingLiU" panose="02020500000000000000" pitchFamily="18" charset="-120"/>
              </a:rPr>
              <a:t>小结</a:t>
            </a:r>
            <a:endParaRPr kumimoji="1" lang="en-US" altLang="zh-HK" b="1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106429" y="970740"/>
            <a:ext cx="4086722" cy="5313759"/>
            <a:chOff x="4106429" y="970740"/>
            <a:chExt cx="4086722" cy="5313759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6429" y="970740"/>
              <a:ext cx="4086722" cy="1345423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5268499"/>
              <a:ext cx="3086100" cy="10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549134" y="318188"/>
            <a:ext cx="157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小结：</a:t>
            </a:r>
            <a:endParaRPr kumimoji="1" lang="en-US" altLang="zh-HK" sz="3600" b="1">
              <a:latin typeface="+mn-ea"/>
            </a:endParaRPr>
          </a:p>
        </p:txBody>
      </p:sp>
      <p:sp>
        <p:nvSpPr>
          <p:cNvPr id="3" name="文字方塊 1"/>
          <p:cNvSpPr txBox="1"/>
          <p:nvPr/>
        </p:nvSpPr>
        <p:spPr>
          <a:xfrm>
            <a:off x="549134" y="130269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数据来源：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字方塊 1"/>
          <p:cNvSpPr txBox="1"/>
          <p:nvPr/>
        </p:nvSpPr>
        <p:spPr>
          <a:xfrm>
            <a:off x="549134" y="1871697"/>
            <a:ext cx="11127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SDDB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数据库：下载脏数据、清理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DreamBank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网站：以不同方法爬虫、清洗、处理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字方塊 1"/>
          <p:cNvSpPr txBox="1"/>
          <p:nvPr/>
        </p:nvSpPr>
        <p:spPr>
          <a:xfrm>
            <a:off x="549134" y="2625132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子课题：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字方塊 1"/>
          <p:cNvSpPr txBox="1"/>
          <p:nvPr/>
        </p:nvSpPr>
        <p:spPr>
          <a:xfrm>
            <a:off x="549134" y="3132346"/>
            <a:ext cx="111277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子课题一：现实生活如何影响我们的梦境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性别？年龄？环境？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子课题二：梦境中实体出现频率符合何种规律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en-US" altLang="zh-CN" sz="20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Zipf's Law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幂律分布</a:t>
            </a:r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子课题三：糟糕的梦境为何总是原地打转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负面梦境存在特殊的拓扑结构</a:t>
            </a:r>
            <a:endParaRPr kumimoji="1"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字方塊 1"/>
          <p:cNvSpPr txBox="1"/>
          <p:nvPr/>
        </p:nvSpPr>
        <p:spPr>
          <a:xfrm>
            <a:off x="549134" y="5062827"/>
            <a:ext cx="1112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当前成果：</a:t>
            </a:r>
            <a:endParaRPr kumimoji="1"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字方塊 1"/>
          <p:cNvSpPr txBox="1"/>
          <p:nvPr/>
        </p:nvSpPr>
        <p:spPr>
          <a:xfrm>
            <a:off x="549134" y="5631832"/>
            <a:ext cx="11127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见</a:t>
            </a:r>
            <a:r>
              <a:rPr kumimoji="1" lang="en-US" altLang="zh-CN" sz="20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Github</a:t>
            </a:r>
            <a:r>
              <a:rPr kumimoji="1"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仓库：</a:t>
            </a:r>
            <a:r>
              <a:rPr kumimoji="1" lang="en-US" altLang="zh-CN" sz="20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https://github.com/DataScienceFinalHomework/DataScienceFinalHomework.git</a:t>
            </a:r>
            <a:endParaRPr kumimoji="1" lang="en-US" altLang="zh-CN" sz="200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参考文献：</a:t>
            </a:r>
            <a:endParaRPr sz="320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1481328"/>
            <a:ext cx="106893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[1]</a:t>
            </a:r>
            <a:r>
              <a:rPr lang="en-US" altLang="zh-CN">
                <a:latin typeface="Times New Roman" panose="02020503050405090304" pitchFamily="18" charset="0"/>
                <a:cs typeface="Times New Roman" panose="02020503050405090304" pitchFamily="18" charset="0"/>
              </a:rPr>
              <a:t> Schredl, M. (2003). Continuity Between Waking and Dreaming: A Proposal for a Mathematical Model. </a:t>
            </a:r>
            <a:r>
              <a:rPr lang="en-US" altLang="zh-CN" i="1">
                <a:latin typeface="Times New Roman" panose="02020503050405090304" pitchFamily="18" charset="0"/>
                <a:cs typeface="Times New Roman" panose="02020503050405090304" pitchFamily="18" charset="0"/>
              </a:rPr>
              <a:t>Sleep and Hypnosis</a:t>
            </a:r>
            <a:endParaRPr lang="en-US" altLang="zh-CN" i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[2]Nadeau, D., et al. (2010). Automatic Dream Sentiment Analysis.</a:t>
            </a:r>
            <a:endParaRPr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[3] Baber, et al. (2026). Emotional regulation or just continuity? Rethinking the emotional function of dreaming in the age of computational sleep science. </a:t>
            </a:r>
            <a:r>
              <a:rPr lang="en-US" altLang="zh-CN" i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Sleep</a:t>
            </a:r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.</a:t>
            </a:r>
            <a:endParaRPr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[4] Schweickert, R., Xi, Z., Viau-Quesnel, C., &amp; Zheng, X. (2020). Power law distribution of frequencies of characters in dreams explained by random walk on semantic network. </a:t>
            </a:r>
            <a:r>
              <a:rPr lang="en-US" altLang="zh-CN" i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International Journal of Dream Research</a:t>
            </a:r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.</a:t>
            </a:r>
            <a:endParaRPr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[5] Domhoff, G. W. (2008). Studying dream content using the archive and search engine on DreamBank.net.</a:t>
            </a:r>
            <a:endParaRPr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[6] Rosen, Z., et al. A quantitative linguistic approach to dream sentiment and topic occurrence.</a:t>
            </a:r>
            <a:endParaRPr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[7] Bertolini, A., et al. (2023). The Language of Dreams: Application of Linguistics-Based Approaches for the Automated Analysis of Dream Experiences. </a:t>
            </a:r>
            <a:r>
              <a:rPr lang="en-US" altLang="zh-CN" i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MDPI</a:t>
            </a:r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.</a:t>
            </a:r>
            <a:endParaRPr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r>
              <a:rPr lang="en-US" altLang="zh-CN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[8] Martin, J. M., et al. (2023). Structural differences between non-lucid, lucid dreams and out-of-body experience reports assessed by graph analysis.</a:t>
            </a:r>
            <a:endParaRPr lang="en-US" altLang="zh-CN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endParaRPr lang="en-US" altLang="zh-CN" i="1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endParaRPr lang="en-US" altLang="zh-CN" i="1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endParaRPr lang="en-US" altLang="zh-CN" i="1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endParaRPr lang="zh-CN" altLang="en-US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6722</Words>
  <Application>WPS 演示</Application>
  <PresentationFormat>寬螢幕</PresentationFormat>
  <Paragraphs>569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67" baseType="lpstr">
      <vt:lpstr>Arial</vt:lpstr>
      <vt:lpstr>宋体</vt:lpstr>
      <vt:lpstr>Wingdings</vt:lpstr>
      <vt:lpstr>黑体</vt:lpstr>
      <vt:lpstr>汉仪中黑KW</vt:lpstr>
      <vt:lpstr>PMingLiU</vt:lpstr>
      <vt:lpstr>宋体-繁</vt:lpstr>
      <vt:lpstr>Times New Roman</vt:lpstr>
      <vt:lpstr>Helvetica</vt:lpstr>
      <vt:lpstr>DengXian</vt:lpstr>
      <vt:lpstr>PMingLiU</vt:lpstr>
      <vt:lpstr>微软雅黑</vt:lpstr>
      <vt:lpstr>汉仪旗黑</vt:lpstr>
      <vt:lpstr>宋体</vt:lpstr>
      <vt:lpstr>汉仪书宋二KW</vt:lpstr>
      <vt:lpstr>Arial Unicode MS</vt:lpstr>
      <vt:lpstr>等线</vt:lpstr>
      <vt:lpstr>汉仪中等线KW</vt:lpstr>
      <vt:lpstr>Times</vt:lpstr>
      <vt:lpstr>Courier New</vt:lpstr>
      <vt:lpstr>Calibri</vt:lpstr>
      <vt:lpstr>Helvetica Neue</vt:lpstr>
      <vt:lpstr>Aptos</vt:lpstr>
      <vt:lpstr>Courier New</vt:lpstr>
      <vt:lpstr>DengXian</vt:lpstr>
      <vt:lpstr>Times</vt:lpstr>
      <vt:lpstr>黑体</vt:lpstr>
      <vt:lpstr>Office 佈景主題</vt:lpstr>
      <vt:lpstr>梦的结构</vt:lpstr>
      <vt:lpstr>PowerPoint 演示文稿</vt:lpstr>
      <vt:lpstr>梦的结构</vt:lpstr>
      <vt:lpstr>PowerPoint 演示文稿</vt:lpstr>
      <vt:lpstr>梦的结构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梦的结构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梦的结构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梦的结构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梦的结构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琳珊 叶</dc:creator>
  <cp:lastModifiedBy>余绵峯(2024010147)</cp:lastModifiedBy>
  <cp:revision>60</cp:revision>
  <dcterms:created xsi:type="dcterms:W3CDTF">2026-06-02T14:07:28Z</dcterms:created>
  <dcterms:modified xsi:type="dcterms:W3CDTF">2026-06-02T14:07:28Z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48905B0D6F4AF960A745196AF027244A_42</vt:lpwstr>
  </property>
  <property fmtid="{D5CDD505-2E9C-101B-9397-08002B2CF9AE}" pid="3" name="KSOProductBuildVer">
    <vt:lpwstr>2052-12.1.25895.25895</vt:lpwstr>
  </property>
</Properties>
</file>